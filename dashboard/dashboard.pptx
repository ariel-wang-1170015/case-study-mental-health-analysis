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7" d="100"/>
          <a:sy n="67" d="100"/>
        </p:scale>
        <p:origin x="2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iel\Documents\case%20study\mental%20health%20analysis\UNI%20health%20dataset%20(version%201).xlsx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riel\Documents\case%20study\mental%20health%20analysis\UNI%20health%20dataset%20(version%201)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ariel\Documents\case%20study\mental%20health%20analysis\UNI%20health%20dataset%20(version%20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[UNI health dataset.xlsx]Sheet1!PivotTable3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</a:t>
            </a:r>
            <a:r>
              <a:rPr lang="en-US" baseline="0"/>
              <a:t> of anxiety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7"/>
        <c:spPr>
          <a:solidFill>
            <a:schemeClr val="accent3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3CD6-41AE-BFD7-A41E4FDA1E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3CD6-41AE-BFD7-A41E4FDA1E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3CD6-41AE-BFD7-A41E4FDA1E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3CD6-41AE-BFD7-A41E4FDA1E4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CD6-41AE-BFD7-A41E4FDA1E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CD6-41AE-BFD7-A41E4FDA1E44}"/>
                </c:ext>
              </c:extLst>
            </c:dLbl>
            <c:dLbl>
              <c:idx val="2"/>
              <c:layout>
                <c:manualLayout>
                  <c:x val="9.7222222222222224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D6-41AE-BFD7-A41E4FDA1E44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3CD6-41AE-BFD7-A41E4FDA1E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Sheet1!$A$10:$A$14</c:f>
              <c:strCache>
                <c:ptCount val="4"/>
                <c:pt idx="0">
                  <c:v>Mild Anxiety</c:v>
                </c:pt>
                <c:pt idx="1">
                  <c:v>Minimal Anxiety</c:v>
                </c:pt>
                <c:pt idx="2">
                  <c:v>Moderate Anxiety</c:v>
                </c:pt>
                <c:pt idx="3">
                  <c:v>Severe Anxiety</c:v>
                </c:pt>
              </c:strCache>
            </c:strRef>
          </c:cat>
          <c:val>
            <c:numRef>
              <c:f>Sheet1!$B$10:$B$14</c:f>
              <c:numCache>
                <c:formatCode>General</c:formatCode>
                <c:ptCount val="4"/>
                <c:pt idx="0">
                  <c:v>495</c:v>
                </c:pt>
                <c:pt idx="1">
                  <c:v>158</c:v>
                </c:pt>
                <c:pt idx="2">
                  <c:v>610</c:v>
                </c:pt>
                <c:pt idx="3">
                  <c:v>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D6-41AE-BFD7-A41E4FDA1E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NZ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Prevalence of </a:t>
            </a:r>
            <a:r>
              <a:rPr lang="en-NZ"/>
              <a:t>Severe  Anxiety in Age Group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Sheet1!$B$37</c:f>
              <c:strCache>
                <c:ptCount val="1"/>
                <c:pt idx="0">
                  <c:v>Count of Severe Anxiety Label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NZ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0A4-4A15-A9A0-864893BA25D4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lt1">
                            <a:lumMod val="85000"/>
                            <a:alpha val="98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9FB094C-525A-4DC9-9AC4-FB2D33D3E2DC}" type="CELLRANGE">
                      <a:rPr lang="en-US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 </a:t>
                    </a:r>
                    <a:fld id="{43AE818D-6681-4060-8D3C-581D6C4E4B73}" type="VALUE">
                      <a:rPr lang="en-US" baseline="0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ln w="0">
                        <a:solidFill>
                          <a:schemeClr val="bg1"/>
                        </a:solidFill>
                      </a:ln>
                      <a:solidFill>
                        <a:schemeClr val="lt1">
                          <a:lumMod val="85000"/>
                          <a:alpha val="98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782041998551771"/>
                      <c:h val="0.1341612499779809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0A4-4A15-A9A0-864893BA25D4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lt1">
                            <a:lumMod val="85000"/>
                            <a:alpha val="98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271EC4B-A7B8-46F7-AF18-9C7B1E14C1DC}" type="CELLRANGE">
                      <a:rPr lang="en-US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 </a:t>
                    </a:r>
                    <a:fld id="{416564C9-215E-4D3B-9CD4-778FBBED9186}" type="VALUE">
                      <a:rPr lang="en-US" baseline="0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ln w="0">
                        <a:solidFill>
                          <a:schemeClr val="bg1"/>
                        </a:solidFill>
                      </a:ln>
                      <a:solidFill>
                        <a:schemeClr val="lt1">
                          <a:lumMod val="85000"/>
                          <a:alpha val="98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044170890658941"/>
                      <c:h val="0.1207384311860346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80A4-4A15-A9A0-864893BA25D4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lt1">
                            <a:lumMod val="85000"/>
                            <a:alpha val="98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E17A3ED-C642-4974-B1AA-975D0B724D36}" type="CELLRANGE">
                      <a:rPr lang="en-US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[CELLRANGE]</a:t>
                    </a:fld>
                    <a:fld id="{215135C2-5F40-4AF9-8BF9-00CB65509B36}" type="VALUE">
                      <a:rPr lang="en-US" baseline="0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[VALUE]</a:t>
                    </a:fld>
                    <a:endParaRPr lang="en-NZ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ln w="0">
                        <a:solidFill>
                          <a:schemeClr val="bg1"/>
                        </a:solidFill>
                      </a:ln>
                      <a:solidFill>
                        <a:schemeClr val="lt1">
                          <a:lumMod val="85000"/>
                          <a:alpha val="98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508327299058646E-2"/>
                      <c:h val="0.1252127041166833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0A4-4A15-A9A0-864893BA25D4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lt1">
                            <a:lumMod val="85000"/>
                            <a:alpha val="98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B772E50-8F70-4E43-B60B-71353C14D7F3}" type="CELLRANGE">
                      <a:rPr lang="en-US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[CELLRANGE]</a:t>
                    </a:fld>
                    <a:r>
                      <a:rPr lang="en-US" baseline="0"/>
                      <a:t> </a:t>
                    </a:r>
                    <a:fld id="{89557CF9-3BA1-4684-BD10-5E5A7C92EE92}" type="VALUE">
                      <a:rPr lang="en-US" baseline="0"/>
                      <a:pPr>
                        <a:defRPr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lt1">
                              <a:lumMod val="85000"/>
                              <a:alpha val="98000"/>
                            </a:schemeClr>
                          </a:solidFill>
                        </a:defRPr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ln w="0">
                        <a:solidFill>
                          <a:schemeClr val="bg1"/>
                        </a:solidFill>
                      </a:ln>
                      <a:solidFill>
                        <a:schemeClr val="lt1">
                          <a:lumMod val="85000"/>
                          <a:alpha val="98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99058653149892"/>
                      <c:h val="0.12968697704733217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80A4-4A15-A9A0-864893BA25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 w="0">
                      <a:solidFill>
                        <a:schemeClr val="bg1"/>
                      </a:solidFill>
                    </a:ln>
                    <a:solidFill>
                      <a:schemeClr val="lt1">
                        <a:lumMod val="85000"/>
                        <a:alpha val="98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Sheet1!$A$38:$A$42</c:f>
              <c:strCache>
                <c:ptCount val="5"/>
                <c:pt idx="0">
                  <c:v>Below 18</c:v>
                </c:pt>
                <c:pt idx="1">
                  <c:v>18-22</c:v>
                </c:pt>
                <c:pt idx="2">
                  <c:v>23-26</c:v>
                </c:pt>
                <c:pt idx="3">
                  <c:v>27-30</c:v>
                </c:pt>
                <c:pt idx="4">
                  <c:v>Above 30</c:v>
                </c:pt>
              </c:strCache>
              <c:extLst/>
            </c:strRef>
          </c:cat>
          <c:val>
            <c:numRef>
              <c:f>Sheet1!$B$38:$B$42</c:f>
              <c:numCache>
                <c:formatCode>General</c:formatCode>
                <c:ptCount val="5"/>
                <c:pt idx="1">
                  <c:v>472</c:v>
                </c:pt>
                <c:pt idx="2">
                  <c:v>233</c:v>
                </c:pt>
                <c:pt idx="3">
                  <c:v>8</c:v>
                </c:pt>
                <c:pt idx="4">
                  <c:v>1</c:v>
                </c:pt>
              </c:numCache>
              <c:extLst/>
            </c:numRef>
          </c:val>
          <c:extLst>
            <c:ext xmlns:c15="http://schemas.microsoft.com/office/drawing/2012/chart" uri="{02D57815-91ED-43cb-92C2-25804820EDAC}">
              <c15:datalabelsRange>
                <c15:f>Sheet1!$D$38:$D$43</c15:f>
                <c15:dlblRangeCache>
                  <c:ptCount val="6"/>
                  <c:pt idx="0">
                    <c:v>0.00%</c:v>
                  </c:pt>
                  <c:pt idx="1">
                    <c:v>37.08%</c:v>
                  </c:pt>
                  <c:pt idx="2">
                    <c:v>34.62%</c:v>
                  </c:pt>
                  <c:pt idx="3">
                    <c:v>33.33%</c:v>
                  </c:pt>
                  <c:pt idx="4">
                    <c:v>33.33%</c:v>
                  </c:pt>
                  <c:pt idx="5">
                    <c:v>36.12%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80A4-4A15-A9A0-864893BA25D4}"/>
            </c:ext>
          </c:extLst>
        </c:ser>
        <c:ser>
          <c:idx val="1"/>
          <c:order val="1"/>
          <c:tx>
            <c:strRef>
              <c:f>Sheet1!$C$37</c:f>
              <c:strCache>
                <c:ptCount val="1"/>
                <c:pt idx="0">
                  <c:v>Total Count of  Anxiety Label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Sheet1!$A$38:$A$42</c:f>
              <c:strCache>
                <c:ptCount val="5"/>
                <c:pt idx="0">
                  <c:v>Below 18</c:v>
                </c:pt>
                <c:pt idx="1">
                  <c:v>18-22</c:v>
                </c:pt>
                <c:pt idx="2">
                  <c:v>23-26</c:v>
                </c:pt>
                <c:pt idx="3">
                  <c:v>27-30</c:v>
                </c:pt>
                <c:pt idx="4">
                  <c:v>Above 30</c:v>
                </c:pt>
              </c:strCache>
              <c:extLst/>
            </c:strRef>
          </c:cat>
          <c:val>
            <c:numRef>
              <c:f>Sheet1!$C$38:$C$42</c:f>
              <c:numCache>
                <c:formatCode>General</c:formatCode>
                <c:ptCount val="5"/>
                <c:pt idx="0">
                  <c:v>4</c:v>
                </c:pt>
                <c:pt idx="1">
                  <c:v>1273</c:v>
                </c:pt>
                <c:pt idx="2">
                  <c:v>673</c:v>
                </c:pt>
                <c:pt idx="3">
                  <c:v>24</c:v>
                </c:pt>
                <c:pt idx="4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80A4-4A15-A9A0-864893BA25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085050320"/>
        <c:axId val="2085037360"/>
        <c:axId val="0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Sheet1!$D$37</c15:sqref>
                        </c15:formulaRef>
                      </c:ext>
                    </c:extLst>
                    <c:strCache>
                      <c:ptCount val="1"/>
                      <c:pt idx="0">
                        <c:v>Count of Serve Anxiety 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Sheet1!$A$38:$A$42</c15:sqref>
                        </c15:formulaRef>
                      </c:ext>
                    </c:extLst>
                    <c:strCache>
                      <c:ptCount val="5"/>
                      <c:pt idx="0">
                        <c:v>Below 18</c:v>
                      </c:pt>
                      <c:pt idx="1">
                        <c:v>18-22</c:v>
                      </c:pt>
                      <c:pt idx="2">
                        <c:v>23-26</c:v>
                      </c:pt>
                      <c:pt idx="3">
                        <c:v>27-30</c:v>
                      </c:pt>
                      <c:pt idx="4">
                        <c:v>Above 30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Sheet1!$D$38:$D$42</c15:sqref>
                        </c15:formulaRef>
                      </c:ext>
                    </c:extLst>
                    <c:numCache>
                      <c:formatCode>0.00%</c:formatCode>
                      <c:ptCount val="5"/>
                      <c:pt idx="0">
                        <c:v>0</c:v>
                      </c:pt>
                      <c:pt idx="1">
                        <c:v>0.37077769049489395</c:v>
                      </c:pt>
                      <c:pt idx="2">
                        <c:v>0.34621099554234769</c:v>
                      </c:pt>
                      <c:pt idx="3">
                        <c:v>0.33333333333333331</c:v>
                      </c:pt>
                      <c:pt idx="4">
                        <c:v>0.33333333333333331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80A4-4A15-A9A0-864893BA25D4}"/>
                  </c:ext>
                </c:extLst>
              </c15:ser>
            </c15:filteredBarSeries>
          </c:ext>
        </c:extLst>
      </c:bar3DChart>
      <c:catAx>
        <c:axId val="208505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5037360"/>
        <c:crosses val="autoZero"/>
        <c:auto val="1"/>
        <c:lblAlgn val="ctr"/>
        <c:lblOffset val="100"/>
        <c:noMultiLvlLbl val="0"/>
      </c:catAx>
      <c:valAx>
        <c:axId val="208503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505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NZ"/>
              <a:t>P</a:t>
            </a:r>
            <a:r>
              <a:rPr lang="en-US" altLang="zh-CN"/>
              <a:t>ercentage </a:t>
            </a:r>
          </a:p>
          <a:p>
            <a:pPr>
              <a:defRPr/>
            </a:pPr>
            <a:r>
              <a:rPr lang="en-US" altLang="zh-CN"/>
              <a:t>of Severe</a:t>
            </a:r>
            <a:r>
              <a:rPr lang="en-US" altLang="zh-CN" baseline="0"/>
              <a:t> Anxiety</a:t>
            </a:r>
          </a:p>
          <a:p>
            <a:pPr>
              <a:defRPr/>
            </a:pPr>
            <a:r>
              <a:rPr lang="en-US" altLang="zh-CN" baseline="0"/>
              <a:t> in Gender Group</a:t>
            </a:r>
            <a:endParaRPr lang="en-NZ"/>
          </a:p>
        </c:rich>
      </c:tx>
      <c:layout>
        <c:manualLayout>
          <c:xMode val="edge"/>
          <c:yMode val="edge"/>
          <c:x val="0.34413632070825584"/>
          <c:y val="0.328783060164147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331036517728834"/>
          <c:y val="7.4663573085846882E-2"/>
          <c:w val="0.48170681995770653"/>
          <c:h val="0.8052662732703656"/>
        </c:manualLayout>
      </c:layout>
      <c:doughnutChart>
        <c:varyColors val="1"/>
        <c:ser>
          <c:idx val="0"/>
          <c:order val="0"/>
          <c:tx>
            <c:strRef>
              <c:f>Sheet1!$B$60</c:f>
              <c:strCache>
                <c:ptCount val="1"/>
                <c:pt idx="0">
                  <c:v>percentage of Severe Anxiety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DB-4A2A-BB6B-7DD79DC7A0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DB-4A2A-BB6B-7DD79DC7A085}"/>
              </c:ext>
            </c:extLst>
          </c:dPt>
          <c:dLbls>
            <c:dLbl>
              <c:idx val="0"/>
              <c:layout>
                <c:manualLayout>
                  <c:x val="0.18875780707841777"/>
                  <c:y val="8.8167053364269138E-2"/>
                </c:manualLayout>
              </c:layout>
              <c:tx>
                <c:rich>
                  <a:bodyPr/>
                  <a:lstStyle/>
                  <a:p>
                    <a:r>
                      <a:rPr lang="en-GB"/>
                      <a:t>Female</a:t>
                    </a:r>
                    <a:r>
                      <a:rPr lang="en-GB" baseline="0"/>
                      <a:t> wirh Severe Anxiety</a:t>
                    </a:r>
                  </a:p>
                  <a:p>
                    <a:r>
                      <a:rPr lang="en-GB" baseline="0"/>
                      <a:t>43.53%</a:t>
                    </a:r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CDB-4A2A-BB6B-7DD79DC7A085}"/>
                </c:ext>
              </c:extLst>
            </c:dLbl>
            <c:dLbl>
              <c:idx val="1"/>
              <c:layout>
                <c:manualLayout>
                  <c:x val="-0.14712005551700208"/>
                  <c:y val="-0.20417633410672853"/>
                </c:manualLayout>
              </c:layout>
              <c:tx>
                <c:rich>
                  <a:bodyPr/>
                  <a:lstStyle/>
                  <a:p>
                    <a:r>
                      <a:rPr lang="en-GB"/>
                      <a:t>Male</a:t>
                    </a:r>
                    <a:r>
                      <a:rPr lang="en-GB" baseline="0"/>
                      <a:t> with Severe Anxiety</a:t>
                    </a:r>
                  </a:p>
                  <a:p>
                    <a:r>
                      <a:rPr lang="en-GB" baseline="0"/>
                      <a:t>32.73%</a:t>
                    </a:r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CDB-4A2A-BB6B-7DD79DC7A085}"/>
                </c:ext>
              </c:extLst>
            </c:dLbl>
            <c:spPr>
              <a:solidFill>
                <a:sysClr val="window" lastClr="FFFFFF"/>
              </a:solidFill>
              <a:ln w="12700">
                <a:solidFill>
                  <a:sysClr val="windowText" lastClr="000000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Sheet1!$A$61:$A$62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Sheet1!$B$61:$B$62</c:f>
              <c:numCache>
                <c:formatCode>0.00%</c:formatCode>
                <c:ptCount val="2"/>
                <c:pt idx="0">
                  <c:v>0.43529411764705883</c:v>
                </c:pt>
                <c:pt idx="1">
                  <c:v>0.32725947521865889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DB-4A2A-BB6B-7DD79DC7A085}"/>
            </c:ext>
          </c:extLst>
        </c:ser>
        <c:ser>
          <c:idx val="1"/>
          <c:order val="1"/>
          <c:tx>
            <c:strRef>
              <c:f>Sheet1!$C$60</c:f>
              <c:strCache>
                <c:ptCount val="1"/>
                <c:pt idx="0">
                  <c:v>total percentage of Anxiety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CDB-4A2A-BB6B-7DD79DC7A0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CDB-4A2A-BB6B-7DD79DC7A085}"/>
              </c:ext>
            </c:extLst>
          </c:dPt>
          <c:dLbls>
            <c:dLbl>
              <c:idx val="0"/>
              <c:layout>
                <c:manualLayout>
                  <c:x val="0.13446119209592231"/>
                  <c:y val="-0.1245215536726060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Female</a:t>
                    </a:r>
                    <a:r>
                      <a:rPr lang="en-US" baseline="0"/>
                      <a:t> with Anxiety</a:t>
                    </a:r>
                  </a:p>
                  <a:p>
                    <a:pPr>
                      <a:defRPr/>
                    </a:pPr>
                    <a:r>
                      <a:rPr lang="en-US" baseline="0"/>
                      <a:t>30.25%</a:t>
                    </a:r>
                    <a:endParaRPr lang="en-US"/>
                  </a:p>
                </c:rich>
              </c:tx>
              <c:spPr>
                <a:solidFill>
                  <a:schemeClr val="bg1"/>
                </a:solidFill>
                <a:ln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317637447636923"/>
                      <c:h val="0.18237220587984596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4CDB-4A2A-BB6B-7DD79DC7A085}"/>
                </c:ext>
              </c:extLst>
            </c:dLbl>
            <c:dLbl>
              <c:idx val="1"/>
              <c:layout>
                <c:manualLayout>
                  <c:x val="-9.9930603747397637E-2"/>
                  <c:y val="0.12993039443155444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Male</a:t>
                    </a:r>
                    <a:r>
                      <a:rPr lang="en-US" baseline="0"/>
                      <a:t> with Anxiety</a:t>
                    </a:r>
                  </a:p>
                  <a:p>
                    <a:r>
                      <a:rPr lang="en-US"/>
                      <a:t>69.75%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CDB-4A2A-BB6B-7DD79DC7A085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tx1">
                    <a:lumMod val="35000"/>
                    <a:lumOff val="6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Sheet1!$A$61:$A$62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Sheet1!$C$61:$C$62</c:f>
              <c:numCache>
                <c:formatCode>0.00%</c:formatCode>
                <c:ptCount val="2"/>
                <c:pt idx="0">
                  <c:v>0.302491103202847</c:v>
                </c:pt>
                <c:pt idx="1">
                  <c:v>0.697508896797153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CDB-4A2A-BB6B-7DD79DC7A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Severe Anxiety in academic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289873241398521E-2"/>
          <c:y val="0.17393870601589104"/>
          <c:w val="0.93871012675860144"/>
          <c:h val="0.67122257277431696"/>
        </c:manualLayout>
      </c:layout>
      <c:lineChart>
        <c:grouping val="stacked"/>
        <c:varyColors val="0"/>
        <c:ser>
          <c:idx val="0"/>
          <c:order val="0"/>
          <c:tx>
            <c:strRef>
              <c:f>Sheet1!$B$193</c:f>
              <c:strCache>
                <c:ptCount val="1"/>
                <c:pt idx="0">
                  <c:v>% of Severe Anxiety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dLbl>
              <c:idx val="1"/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16A-4971-87A8-0F8A40AED2C1}"/>
                </c:ext>
              </c:extLst>
            </c:dLbl>
            <c:dLbl>
              <c:idx val="2"/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16A-4971-87A8-0F8A40AED2C1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Sheet1!$A$194:$A$198</c:f>
              <c:strCache>
                <c:ptCount val="5"/>
                <c:pt idx="0">
                  <c:v>First Year or Equivalent</c:v>
                </c:pt>
                <c:pt idx="1">
                  <c:v>Second Year or Equivalent</c:v>
                </c:pt>
                <c:pt idx="2">
                  <c:v>Third Year or Equivalent</c:v>
                </c:pt>
                <c:pt idx="3">
                  <c:v>Fourth Year or Equivalent</c:v>
                </c:pt>
                <c:pt idx="4">
                  <c:v>Other</c:v>
                </c:pt>
              </c:strCache>
            </c:strRef>
          </c:cat>
          <c:val>
            <c:numRef>
              <c:f>Sheet1!$B$194:$B$198</c:f>
              <c:numCache>
                <c:formatCode>0.00%</c:formatCode>
                <c:ptCount val="5"/>
                <c:pt idx="0">
                  <c:v>0.30236486486486486</c:v>
                </c:pt>
                <c:pt idx="1">
                  <c:v>0.4027027027027027</c:v>
                </c:pt>
                <c:pt idx="2">
                  <c:v>0.41485507246376813</c:v>
                </c:pt>
                <c:pt idx="3">
                  <c:v>0.34948979591836737</c:v>
                </c:pt>
                <c:pt idx="4">
                  <c:v>0.28169014084507044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6A-4971-87A8-0F8A40AED2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812329408"/>
        <c:axId val="1812327968"/>
      </c:lineChart>
      <c:catAx>
        <c:axId val="181232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327968"/>
        <c:crosses val="autoZero"/>
        <c:auto val="1"/>
        <c:lblAlgn val="ctr"/>
        <c:lblOffset val="100"/>
        <c:noMultiLvlLbl val="0"/>
      </c:catAx>
      <c:valAx>
        <c:axId val="181232796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12329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Severe Anxiety in CGPA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Sheet1!$G$224</c:f>
              <c:strCache>
                <c:ptCount val="1"/>
                <c:pt idx="0">
                  <c:v>% of Severe Anxiety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6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0E5-4AB7-81B5-E505D02C2AB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ln>
                        <a:solidFill>
                          <a:srgbClr val="FF0000"/>
                        </a:solidFill>
                      </a:ln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0E5-4AB7-81B5-E505D02C2A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ln>
                        <a:solidFill>
                          <a:srgbClr val="FF0000"/>
                        </a:solidFill>
                      </a:ln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0E5-4AB7-81B5-E505D02C2AB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ln>
                        <a:solidFill>
                          <a:srgbClr val="FF0000"/>
                        </a:solidFill>
                      </a:ln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0E5-4AB7-81B5-E505D02C2AB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ln>
                        <a:solidFill>
                          <a:srgbClr val="FF0000"/>
                        </a:solidFill>
                      </a:ln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0E5-4AB7-81B5-E505D02C2AB7}"/>
                </c:ext>
              </c:extLst>
            </c:dLbl>
            <c:dLbl>
              <c:idx val="6"/>
              <c:spPr>
                <a:solidFill>
                  <a:schemeClr val="bg1">
                    <a:alpha val="46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ln w="6350"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0E5-4AB7-81B5-E505D02C2A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Sheet1!$F$225:$F$231</c:f>
              <c:strCache>
                <c:ptCount val="7"/>
                <c:pt idx="0">
                  <c:v>Below 2.50</c:v>
                </c:pt>
                <c:pt idx="1">
                  <c:v>2.50 - 2.99</c:v>
                </c:pt>
                <c:pt idx="2">
                  <c:v>3.00 - 3.39</c:v>
                </c:pt>
                <c:pt idx="3">
                  <c:v>3.40 - 3.79</c:v>
                </c:pt>
                <c:pt idx="4">
                  <c:v>3.80 - 4.00</c:v>
                </c:pt>
                <c:pt idx="5">
                  <c:v>Other</c:v>
                </c:pt>
                <c:pt idx="6">
                  <c:v>Average % of Severe Anxiety</c:v>
                </c:pt>
              </c:strCache>
            </c:strRef>
          </c:cat>
          <c:val>
            <c:numRef>
              <c:f>Sheet1!$G$225:$G$231</c:f>
              <c:numCache>
                <c:formatCode>0.00%</c:formatCode>
                <c:ptCount val="7"/>
                <c:pt idx="0">
                  <c:v>0.43209876543209874</c:v>
                </c:pt>
                <c:pt idx="1">
                  <c:v>0.39130434782608697</c:v>
                </c:pt>
                <c:pt idx="2">
                  <c:v>0.32517482517482516</c:v>
                </c:pt>
                <c:pt idx="3">
                  <c:v>0.35753176043557167</c:v>
                </c:pt>
                <c:pt idx="4">
                  <c:v>0.37130801687763715</c:v>
                </c:pt>
                <c:pt idx="5">
                  <c:v>0.38095238095238093</c:v>
                </c:pt>
                <c:pt idx="6">
                  <c:v>0.36115326251896812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E5-4AB7-81B5-E505D02C2A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93407"/>
        <c:axId val="48386207"/>
      </c:barChart>
      <c:catAx>
        <c:axId val="4839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86207"/>
        <c:crosses val="autoZero"/>
        <c:auto val="1"/>
        <c:lblAlgn val="ctr"/>
        <c:lblOffset val="100"/>
        <c:noMultiLvlLbl val="0"/>
      </c:catAx>
      <c:valAx>
        <c:axId val="48386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9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NZ"/>
              <a:t>Waiver Scholarship: 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solidFill>
              <a:schemeClr val="bg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08-42E0-A1C7-6290E6E0709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08-42E0-A1C7-6290E6E07092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208-42E0-A1C7-6290E6E07092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208-42E0-A1C7-6290E6E07092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208-42E0-A1C7-6290E6E07092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208-42E0-A1C7-6290E6E07092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208-42E0-A1C7-6290E6E07092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208-42E0-A1C7-6290E6E07092}"/>
              </c:ext>
            </c:extLst>
          </c:dPt>
          <c:dPt>
            <c:idx val="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208-42E0-A1C7-6290E6E07092}"/>
              </c:ext>
            </c:extLst>
          </c:dPt>
          <c:dPt>
            <c:idx val="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E208-42E0-A1C7-6290E6E07092}"/>
              </c:ext>
            </c:extLst>
          </c:dPt>
          <c:dPt>
            <c:idx val="1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E208-42E0-A1C7-6290E6E07092}"/>
              </c:ext>
            </c:extLst>
          </c:dPt>
          <c:dPt>
            <c:idx val="1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E208-42E0-A1C7-6290E6E07092}"/>
              </c:ext>
            </c:extLst>
          </c:dPt>
          <c:dPt>
            <c:idx val="1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E208-42E0-A1C7-6290E6E07092}"/>
              </c:ext>
            </c:extLst>
          </c:dPt>
          <c:dPt>
            <c:idx val="1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E208-42E0-A1C7-6290E6E07092}"/>
              </c:ext>
            </c:extLst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E208-42E0-A1C7-6290E6E07092}"/>
              </c:ext>
            </c:extLst>
          </c:dPt>
          <c:dPt>
            <c:idx val="1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E208-42E0-A1C7-6290E6E07092}"/>
              </c:ext>
            </c:extLst>
          </c:dPt>
          <c:dPt>
            <c:idx val="1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E208-42E0-A1C7-6290E6E07092}"/>
              </c:ext>
            </c:extLst>
          </c:dPt>
          <c:dPt>
            <c:idx val="1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E208-42E0-A1C7-6290E6E07092}"/>
              </c:ext>
            </c:extLst>
          </c:dPt>
          <c:dPt>
            <c:idx val="1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E208-42E0-A1C7-6290E6E07092}"/>
              </c:ext>
            </c:extLst>
          </c:dPt>
          <c:dPt>
            <c:idx val="1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E208-42E0-A1C7-6290E6E07092}"/>
              </c:ext>
            </c:extLst>
          </c:dPt>
          <c:dPt>
            <c:idx val="2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E208-42E0-A1C7-6290E6E07092}"/>
              </c:ext>
            </c:extLst>
          </c:dPt>
          <c:val>
            <c:numRef>
              <c:f>Sheet1!$E$250:$E$270</c:f>
              <c:numCache>
                <c:formatCode>0.00%</c:formatCode>
                <c:ptCount val="21"/>
                <c:pt idx="0">
                  <c:v>0.35709739019732656</c:v>
                </c:pt>
                <c:pt idx="1">
                  <c:v>3.2145130490133671E-2</c:v>
                </c:pt>
                <c:pt idx="2">
                  <c:v>3.2145130490133671E-2</c:v>
                </c:pt>
                <c:pt idx="3">
                  <c:v>3.2145130490133671E-2</c:v>
                </c:pt>
                <c:pt idx="4">
                  <c:v>3.2145130490133671E-2</c:v>
                </c:pt>
                <c:pt idx="5">
                  <c:v>3.2145130490133671E-2</c:v>
                </c:pt>
                <c:pt idx="6">
                  <c:v>3.2145130490133671E-2</c:v>
                </c:pt>
                <c:pt idx="7">
                  <c:v>3.2145130490133671E-2</c:v>
                </c:pt>
                <c:pt idx="8">
                  <c:v>3.2145130490133671E-2</c:v>
                </c:pt>
                <c:pt idx="9">
                  <c:v>3.2145130490133671E-2</c:v>
                </c:pt>
                <c:pt idx="10">
                  <c:v>3.2145130490133671E-2</c:v>
                </c:pt>
                <c:pt idx="11">
                  <c:v>3.2145130490133671E-2</c:v>
                </c:pt>
                <c:pt idx="12">
                  <c:v>3.2145130490133671E-2</c:v>
                </c:pt>
                <c:pt idx="13">
                  <c:v>3.2145130490133671E-2</c:v>
                </c:pt>
                <c:pt idx="14">
                  <c:v>3.2145130490133671E-2</c:v>
                </c:pt>
                <c:pt idx="15">
                  <c:v>3.2145130490133671E-2</c:v>
                </c:pt>
                <c:pt idx="16">
                  <c:v>3.2145130490133671E-2</c:v>
                </c:pt>
                <c:pt idx="17">
                  <c:v>3.2145130490133671E-2</c:v>
                </c:pt>
                <c:pt idx="18">
                  <c:v>3.2145130490133671E-2</c:v>
                </c:pt>
                <c:pt idx="19">
                  <c:v>3.2145130490133671E-2</c:v>
                </c:pt>
                <c:pt idx="20">
                  <c:v>3.2145130490133671E-2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208-42E0-A1C7-6290E6E070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NZ"/>
              <a:t>Waiver</a:t>
            </a:r>
            <a:r>
              <a:rPr lang="en-NZ" baseline="0"/>
              <a:t> Scholarship: Yes</a:t>
            </a:r>
            <a:endParaRPr lang="en-NZ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Z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D07-4B89-8C54-C1E68A2B222B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D07-4B89-8C54-C1E68A2B222B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D07-4B89-8C54-C1E68A2B222B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D07-4B89-8C54-C1E68A2B222B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D07-4B89-8C54-C1E68A2B222B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D07-4B89-8C54-C1E68A2B222B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D07-4B89-8C54-C1E68A2B222B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D07-4B89-8C54-C1E68A2B222B}"/>
              </c:ext>
            </c:extLst>
          </c:dPt>
          <c:dPt>
            <c:idx val="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D07-4B89-8C54-C1E68A2B222B}"/>
              </c:ext>
            </c:extLst>
          </c:dPt>
          <c:dPt>
            <c:idx val="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7D07-4B89-8C54-C1E68A2B222B}"/>
              </c:ext>
            </c:extLst>
          </c:dPt>
          <c:dPt>
            <c:idx val="1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7D07-4B89-8C54-C1E68A2B222B}"/>
              </c:ext>
            </c:extLst>
          </c:dPt>
          <c:dPt>
            <c:idx val="1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7D07-4B89-8C54-C1E68A2B222B}"/>
              </c:ext>
            </c:extLst>
          </c:dPt>
          <c:dPt>
            <c:idx val="1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7D07-4B89-8C54-C1E68A2B222B}"/>
              </c:ext>
            </c:extLst>
          </c:dPt>
          <c:dPt>
            <c:idx val="1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7D07-4B89-8C54-C1E68A2B222B}"/>
              </c:ext>
            </c:extLst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7D07-4B89-8C54-C1E68A2B222B}"/>
              </c:ext>
            </c:extLst>
          </c:dPt>
          <c:dPt>
            <c:idx val="1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7D07-4B89-8C54-C1E68A2B222B}"/>
              </c:ext>
            </c:extLst>
          </c:dPt>
          <c:dPt>
            <c:idx val="1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7D07-4B89-8C54-C1E68A2B222B}"/>
              </c:ext>
            </c:extLst>
          </c:dPt>
          <c:dPt>
            <c:idx val="1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7D07-4B89-8C54-C1E68A2B222B}"/>
              </c:ext>
            </c:extLst>
          </c:dPt>
          <c:dPt>
            <c:idx val="1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7D07-4B89-8C54-C1E68A2B222B}"/>
              </c:ext>
            </c:extLst>
          </c:dPt>
          <c:dPt>
            <c:idx val="1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7D07-4B89-8C54-C1E68A2B222B}"/>
              </c:ext>
            </c:extLst>
          </c:dPt>
          <c:dPt>
            <c:idx val="2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7D07-4B89-8C54-C1E68A2B222B}"/>
              </c:ext>
            </c:extLst>
          </c:dPt>
          <c:val>
            <c:numRef>
              <c:f>Sheet1!$D$250:$D$270</c:f>
              <c:numCache>
                <c:formatCode>0.00%</c:formatCode>
                <c:ptCount val="21"/>
                <c:pt idx="0">
                  <c:v>0.37684729064039407</c:v>
                </c:pt>
                <c:pt idx="1">
                  <c:v>3.1157635467980293E-2</c:v>
                </c:pt>
                <c:pt idx="2">
                  <c:v>3.1157635467980293E-2</c:v>
                </c:pt>
                <c:pt idx="3">
                  <c:v>3.1157635467980293E-2</c:v>
                </c:pt>
                <c:pt idx="4">
                  <c:v>3.1157635467980293E-2</c:v>
                </c:pt>
                <c:pt idx="5">
                  <c:v>3.1157635467980293E-2</c:v>
                </c:pt>
                <c:pt idx="6">
                  <c:v>3.1157635467980293E-2</c:v>
                </c:pt>
                <c:pt idx="7">
                  <c:v>3.1157635467980293E-2</c:v>
                </c:pt>
                <c:pt idx="8">
                  <c:v>3.1157635467980293E-2</c:v>
                </c:pt>
                <c:pt idx="9">
                  <c:v>3.1157635467980293E-2</c:v>
                </c:pt>
                <c:pt idx="10">
                  <c:v>3.1157635467980293E-2</c:v>
                </c:pt>
                <c:pt idx="11">
                  <c:v>3.1157635467980293E-2</c:v>
                </c:pt>
                <c:pt idx="12">
                  <c:v>3.1157635467980293E-2</c:v>
                </c:pt>
                <c:pt idx="13">
                  <c:v>3.1157635467980293E-2</c:v>
                </c:pt>
                <c:pt idx="14">
                  <c:v>3.1157635467980293E-2</c:v>
                </c:pt>
                <c:pt idx="15">
                  <c:v>3.1157635467980293E-2</c:v>
                </c:pt>
                <c:pt idx="16">
                  <c:v>3.1157635467980293E-2</c:v>
                </c:pt>
                <c:pt idx="17">
                  <c:v>3.1157635467980293E-2</c:v>
                </c:pt>
                <c:pt idx="18">
                  <c:v>3.1157635467980293E-2</c:v>
                </c:pt>
                <c:pt idx="19">
                  <c:v>3.1157635467980293E-2</c:v>
                </c:pt>
                <c:pt idx="20">
                  <c:v>3.1157635467980293E-2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7D07-4B89-8C54-C1E68A2B22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Sheet1!$A$115:$A$117</cx:f>
        <cx:lvl ptCount="3">
          <cx:pt idx="0">Engineering &amp; Technology University</cx:pt>
          <cx:pt idx="1">Comprehensive University</cx:pt>
          <cx:pt idx="2">Private University</cx:pt>
        </cx:lvl>
      </cx:strDim>
      <cx:numDim type="size">
        <cx:f>Sheet1!$C$115:$C$117</cx:f>
        <cx:lvl ptCount="3" formatCode="0.00%">
          <cx:pt idx="0">0.41273100616016428</cx:pt>
          <cx:pt idx="1">0.35408560311284049</cx:pt>
          <cx:pt idx="2">0.34225466342254662</cx:pt>
        </cx:lvl>
      </cx:numDim>
    </cx:data>
  </cx:chartData>
  <cx:chart>
    <cx:title pos="t" align="ctr" overlay="0">
      <cx:tx>
        <cx:txData>
          <cx:v>Severe Anxiety in University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Severe Anxiety in University</a:t>
          </a:r>
        </a:p>
      </cx:txPr>
    </cx:title>
    <cx:plotArea>
      <cx:plotAreaRegion>
        <cx:series layoutId="treemap" uniqueId="{25A375A4-6905-491A-8E0F-3C4D2AC669C6}">
          <cx:tx>
            <cx:txData>
              <cx:f>Sheet1!$C$114</cx:f>
              <cx:v>% of Severe Anxiety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ln>
                      <a:noFill/>
                    </a:ln>
                    <a:solidFill>
                      <a:sysClr val="window" lastClr="FFFFFF"/>
                    </a:solidFill>
                  </a:defRPr>
                </a:pPr>
                <a:endParaRPr lang="en-GB" sz="900" b="0" i="0" u="none" strike="noStrike" baseline="0">
                  <a:ln>
                    <a:noFill/>
                  </a:ln>
                  <a:solidFill>
                    <a:sysClr val="window" lastClr="FFFFFF"/>
                  </a:solidFill>
                  <a:latin typeface="Aptos Narrow" panose="02110004020202020204"/>
                </a:endParaRPr>
              </a:p>
            </cx:txPr>
            <cx:visibility seriesName="0" categoryName="1" value="1"/>
            <cx:separator>, </cx:separator>
          </cx:dataLabels>
          <cx:dataId val="0"/>
          <cx:layoutPr/>
        </cx:series>
      </cx:plotAreaRegion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Sheet1!$F$155:$F$162</cx:f>
        <cx:lvl ptCount="8">
          <cx:pt idx="0">Business and Entrepreneurship Studies</cx:pt>
          <cx:pt idx="1">Engineering &amp; Technology</cx:pt>
          <cx:pt idx="2">Biological Sciences</cx:pt>
          <cx:pt idx="3">Environmental and Life Sciences</cx:pt>
          <cx:pt idx="4">Law and Human Rights</cx:pt>
          <cx:pt idx="5">Liberal Arts and Social Sciences</cx:pt>
          <cx:pt idx="6">Pharmacy and Public Health</cx:pt>
          <cx:pt idx="7">Other</cx:pt>
        </cx:lvl>
      </cx:strDim>
      <cx:numDim type="val">
        <cx:f>Sheet1!$I$155:$I$162</cx:f>
        <cx:lvl ptCount="8" formatCode="0.00%">
          <cx:pt idx="0">0.36434108527131781</cx:pt>
          <cx:pt idx="1">0.36346863468634688</cx:pt>
          <cx:pt idx="2">0.36842105263157893</cx:pt>
          <cx:pt idx="3">0.27659574468085107</cx:pt>
          <cx:pt idx="4">0</cx:pt>
          <cx:pt idx="5">0</cx:pt>
          <cx:pt idx="6">0</cx:pt>
          <cx:pt idx="7">0.36363636363636365</cx:pt>
        </cx:lvl>
      </cx:numDim>
    </cx:data>
  </cx:chartData>
  <cx:chart>
    <cx:title pos="t" align="ctr" overlay="0">
      <cx:tx>
        <cx:txData>
          <cx:v>Severe Anxiety in Department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r>
            <a: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Aptos Narrow" panose="02110004020202020204"/>
            </a:rPr>
            <a:t>Severe Anxiety in Department</a:t>
          </a:r>
        </a:p>
      </cx:txPr>
    </cx:title>
    <cx:plotArea>
      <cx:plotAreaRegion>
        <cx:series layoutId="funnel" uniqueId="{57533475-7205-40A0-BE30-E51032DB8252}">
          <cx:tx>
            <cx:txData>
              <cx:f>Sheet1!$I$154</cx:f>
              <cx:v>% of Severe Anxiety 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0.66423</cdr:x>
      <cdr:y>0.26085</cdr:y>
    </cdr:from>
    <cdr:to>
      <cdr:x>0.83848</cdr:x>
      <cdr:y>0.37779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4E1A825-C3C7-BFFF-1D3A-87F52C7EEA1F}"/>
            </a:ext>
          </a:extLst>
        </cdr:cNvPr>
        <cdr:cNvSpPr/>
      </cdr:nvSpPr>
      <cdr:spPr>
        <a:xfrm xmlns:a="http://schemas.openxmlformats.org/drawingml/2006/main">
          <a:off x="2574953" y="567859"/>
          <a:ext cx="675460" cy="254557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NZ" kern="1200" dirty="0">
              <a:ln>
                <a:solidFill>
                  <a:schemeClr val="bg1"/>
                </a:solidFill>
              </a:ln>
            </a:rPr>
            <a:t>35.71%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0.67238</cdr:x>
      <cdr:y>0.25794</cdr:y>
    </cdr:from>
    <cdr:to>
      <cdr:x>0.85118</cdr:x>
      <cdr:y>0.35141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F2F6CA13-C268-9F04-F8C5-4B41A1483C7D}"/>
            </a:ext>
          </a:extLst>
        </cdr:cNvPr>
        <cdr:cNvSpPr/>
      </cdr:nvSpPr>
      <cdr:spPr>
        <a:xfrm xmlns:a="http://schemas.openxmlformats.org/drawingml/2006/main">
          <a:off x="2559556" y="563857"/>
          <a:ext cx="680606" cy="204331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50000"/>
          </a:schemeClr>
        </a:solidFill>
        <a:ln xmlns:a="http://schemas.openxmlformats.org/drawingml/2006/main">
          <a:solidFill>
            <a:schemeClr val="bg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NZ" b="1" kern="1200">
              <a:solidFill>
                <a:schemeClr val="bg1"/>
              </a:solidFill>
            </a:rPr>
            <a:t>37.68%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098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1682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7189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9463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6306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594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066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9043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887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6601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546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EC942-BB70-4E76-8AE2-6AB6D073FD99}" type="datetimeFigureOut">
              <a:rPr lang="en-NZ" smtClean="0"/>
              <a:t>23/06/2026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71BC8-2D64-4B2E-AF30-085D0F2435E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6041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hart" Target="../charts/chart2.xml"/><Relationship Id="rId7" Type="http://schemas.microsoft.com/office/2014/relationships/chartEx" Target="../charts/chartEx2.xml"/><Relationship Id="rId12" Type="http://schemas.openxmlformats.org/officeDocument/2006/relationships/chart" Target="../charts/chart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chart" Target="../charts/chart6.xml"/><Relationship Id="rId5" Type="http://schemas.microsoft.com/office/2014/relationships/chartEx" Target="../charts/chartEx1.xml"/><Relationship Id="rId10" Type="http://schemas.openxmlformats.org/officeDocument/2006/relationships/chart" Target="../charts/chart5.xml"/><Relationship Id="rId4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D018D7-0402-C897-234B-64A123C00ECE}"/>
              </a:ext>
            </a:extLst>
          </p:cNvPr>
          <p:cNvSpPr/>
          <p:nvPr/>
        </p:nvSpPr>
        <p:spPr>
          <a:xfrm>
            <a:off x="10277061" y="0"/>
            <a:ext cx="4842288" cy="1401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4D7C49B-8957-ACDF-4546-EBA363D67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636161"/>
              </p:ext>
            </p:extLst>
          </p:nvPr>
        </p:nvGraphicFramePr>
        <p:xfrm>
          <a:off x="-22910" y="16812"/>
          <a:ext cx="4572000" cy="322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1A7E546-F2DC-8D96-C0E7-177D1985B9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64822"/>
              </p:ext>
            </p:extLst>
          </p:nvPr>
        </p:nvGraphicFramePr>
        <p:xfrm>
          <a:off x="10204256" y="4452967"/>
          <a:ext cx="4911090" cy="3005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2A14921-5C1A-1D29-8C49-BEC0910BBC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0512616"/>
              </p:ext>
            </p:extLst>
          </p:nvPr>
        </p:nvGraphicFramePr>
        <p:xfrm>
          <a:off x="10386833" y="1759968"/>
          <a:ext cx="4529733" cy="2699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F79FAB76-86C9-56B7-C6C0-C4A92EC7399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62646421"/>
                  </p:ext>
                </p:extLst>
              </p:nvPr>
            </p:nvGraphicFramePr>
            <p:xfrm>
              <a:off x="-22910" y="6996659"/>
              <a:ext cx="3806691" cy="31042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F79FAB76-86C9-56B7-C6C0-C4A92EC739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2910" y="6996659"/>
                <a:ext cx="3806691" cy="3104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284E04BE-E04D-BF33-A01F-A4EAB69063B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57010885"/>
                  </p:ext>
                </p:extLst>
              </p:nvPr>
            </p:nvGraphicFramePr>
            <p:xfrm>
              <a:off x="3707296" y="6947452"/>
              <a:ext cx="6261333" cy="313441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284E04BE-E04D-BF33-A01F-A4EAB69063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7296" y="6947452"/>
                <a:ext cx="6261333" cy="313441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7A0A26A-99AA-0CE4-7102-6F6F23422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650877"/>
              </p:ext>
            </p:extLst>
          </p:nvPr>
        </p:nvGraphicFramePr>
        <p:xfrm>
          <a:off x="5078896" y="3633586"/>
          <a:ext cx="4742648" cy="3005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C5F4076-0B2C-70E9-C9BD-8198E6168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202362"/>
              </p:ext>
            </p:extLst>
          </p:nvPr>
        </p:nvGraphicFramePr>
        <p:xfrm>
          <a:off x="0" y="3633586"/>
          <a:ext cx="4939748" cy="3005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E221C86-DE1A-BFF0-CD42-FA1FBEE0B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552589"/>
              </p:ext>
            </p:extLst>
          </p:nvPr>
        </p:nvGraphicFramePr>
        <p:xfrm>
          <a:off x="11825175" y="7924020"/>
          <a:ext cx="3876576" cy="2176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4259319-12D3-EBBC-C02C-B2A4CD05F7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22142"/>
              </p:ext>
            </p:extLst>
          </p:nvPr>
        </p:nvGraphicFramePr>
        <p:xfrm>
          <a:off x="9452108" y="7914922"/>
          <a:ext cx="3806691" cy="2186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972C83F-ACBA-754E-1BEB-D4E3175EA872}"/>
              </a:ext>
            </a:extLst>
          </p:cNvPr>
          <p:cNvSpPr txBox="1"/>
          <p:nvPr/>
        </p:nvSpPr>
        <p:spPr>
          <a:xfrm>
            <a:off x="10144622" y="1470930"/>
            <a:ext cx="4974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emographic </a:t>
            </a:r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ttributes</a:t>
            </a:r>
            <a:endParaRPr lang="en-NZ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90E47C-E5E2-3785-6CCB-6BE892F8F54F}"/>
              </a:ext>
            </a:extLst>
          </p:cNvPr>
          <p:cNvSpPr txBox="1"/>
          <p:nvPr/>
        </p:nvSpPr>
        <p:spPr>
          <a:xfrm>
            <a:off x="10167368" y="7525713"/>
            <a:ext cx="4928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inancial </a:t>
            </a:r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tatus</a:t>
            </a:r>
            <a:endParaRPr lang="en-NZ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75543D-67FD-FDCD-8D4F-3693A27E213D}"/>
              </a:ext>
            </a:extLst>
          </p:cNvPr>
          <p:cNvSpPr txBox="1"/>
          <p:nvPr/>
        </p:nvSpPr>
        <p:spPr>
          <a:xfrm>
            <a:off x="6585" y="3259134"/>
            <a:ext cx="10144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cademic </a:t>
            </a:r>
            <a:r>
              <a:rPr lang="en-NZ" b="1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NZ" sz="18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nformation</a:t>
            </a:r>
            <a:endParaRPr lang="en-NZ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FC4C37-9F3C-B039-06C6-257B78260D72}"/>
              </a:ext>
            </a:extLst>
          </p:cNvPr>
          <p:cNvSpPr/>
          <p:nvPr/>
        </p:nvSpPr>
        <p:spPr>
          <a:xfrm>
            <a:off x="0" y="10071128"/>
            <a:ext cx="15115346" cy="620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600" b="1" dirty="0"/>
              <a:t>Insights: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64E988-E2BA-E284-BFDD-8FFE2AEE3988}"/>
              </a:ext>
            </a:extLst>
          </p:cNvPr>
          <p:cNvSpPr txBox="1"/>
          <p:nvPr/>
        </p:nvSpPr>
        <p:spPr>
          <a:xfrm>
            <a:off x="10601741" y="46571"/>
            <a:ext cx="4517610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Data-Driven Analysis of Key Factors Influencing University Students’ Mental Health </a:t>
            </a:r>
            <a:endParaRPr lang="en-NZ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42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126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arielwang.710089</dc:creator>
  <cp:lastModifiedBy>arielwang.710089</cp:lastModifiedBy>
  <cp:revision>5</cp:revision>
  <dcterms:created xsi:type="dcterms:W3CDTF">2026-06-06T01:46:26Z</dcterms:created>
  <dcterms:modified xsi:type="dcterms:W3CDTF">2026-06-23T00:43:29Z</dcterms:modified>
</cp:coreProperties>
</file>