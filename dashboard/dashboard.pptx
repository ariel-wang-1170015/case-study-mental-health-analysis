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Ex1.xml" ContentType="application/vnd.ms-office.chartex+xml"/>
  <Override PartName="/ppt/charts/style4.xml" ContentType="application/vnd.ms-office.chartstyle+xml"/>
  <Override PartName="/ppt/charts/colors4.xml" ContentType="application/vnd.ms-office.chartcolorstyle+xml"/>
  <Override PartName="/ppt/charts/chartEx2.xml" ContentType="application/vnd.ms-office.chartex+xml"/>
  <Override PartName="/ppt/charts/style5.xml" ContentType="application/vnd.ms-office.chartstyle+xml"/>
  <Override PartName="/ppt/charts/colors5.xml" ContentType="application/vnd.ms-office.chartcolorstyle+xml"/>
  <Override PartName="/ppt/charts/chart4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charts/chart5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6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drawings/drawing1.xml" ContentType="application/vnd.openxmlformats-officedocument.drawingml.chartshapes+xml"/>
  <Override PartName="/ppt/charts/chart7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drawings/drawing2.xml" ContentType="application/vnd.openxmlformats-officedocument.drawingml.chartshap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15119350" cy="106918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00" autoAdjust="0"/>
    <p:restoredTop sz="94660"/>
  </p:normalViewPr>
  <p:slideViewPr>
    <p:cSldViewPr snapToGrid="0">
      <p:cViewPr>
        <p:scale>
          <a:sx n="64" d="100"/>
          <a:sy n="64" d="100"/>
        </p:scale>
        <p:origin x="412" y="1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ariel\Documents\case%20study\mental%20health%20analysis\UNI%20health%20dataset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ariel\Documents\case%20study\mental%20health%20analysis\UNI%20health%20dataset%20(version%201)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ariel\Documents\case%20study\mental%20health%20analysis\UNI%20health%20dataset%20(version%201)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ariel\Documents\case%20study\mental%20health%20analysis\UNI%20health%20dataset%20(version%201).xlsx" TargetMode="External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ariel\Documents\case%20study\mental%20health%20analysis\UNI%20health%20dataset%20(version%201).xlsx" TargetMode="External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ariel\Documents\case%20study\mental%20health%20analysis\UNI%20health%20dataset%20(version%201).xlsx" TargetMode="External"/><Relationship Id="rId2" Type="http://schemas.microsoft.com/office/2011/relationships/chartColorStyle" Target="colors8.xml"/><Relationship Id="rId1" Type="http://schemas.microsoft.com/office/2011/relationships/chartStyle" Target="style8.xml"/><Relationship Id="rId4" Type="http://schemas.openxmlformats.org/officeDocument/2006/relationships/chartUserShapes" Target="../drawings/drawing1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ariel\Documents\case%20study\mental%20health%20analysis\UNI%20health%20dataset%20(version%201).xlsx" TargetMode="External"/><Relationship Id="rId2" Type="http://schemas.microsoft.com/office/2011/relationships/chartColorStyle" Target="colors9.xml"/><Relationship Id="rId1" Type="http://schemas.microsoft.com/office/2011/relationships/chartStyle" Target="style9.xml"/><Relationship Id="rId4" Type="http://schemas.openxmlformats.org/officeDocument/2006/relationships/chartUserShapes" Target="../drawings/drawing2.xml"/></Relationships>
</file>

<file path=ppt/charts/_rels/chartEx1.xml.rels><?xml version="1.0" encoding="UTF-8" standalone="yes"?>
<Relationships xmlns="http://schemas.openxmlformats.org/package/2006/relationships"><Relationship Id="rId3" Type="http://schemas.microsoft.com/office/2011/relationships/chartColorStyle" Target="colors4.xml"/><Relationship Id="rId2" Type="http://schemas.microsoft.com/office/2011/relationships/chartStyle" Target="style4.xml"/><Relationship Id="rId1" Type="http://schemas.openxmlformats.org/officeDocument/2006/relationships/oleObject" Target="file:///C:\Users\ariel\Documents\case%20study\mental%20health%20analysis\UNI%20health%20dataset%20(version%201).xlsx" TargetMode="External"/></Relationships>
</file>

<file path=ppt/charts/_rels/chartEx2.xml.rels><?xml version="1.0" encoding="UTF-8" standalone="yes"?>
<Relationships xmlns="http://schemas.openxmlformats.org/package/2006/relationships"><Relationship Id="rId3" Type="http://schemas.microsoft.com/office/2011/relationships/chartColorStyle" Target="colors5.xml"/><Relationship Id="rId2" Type="http://schemas.microsoft.com/office/2011/relationships/chartStyle" Target="style5.xml"/><Relationship Id="rId1" Type="http://schemas.openxmlformats.org/officeDocument/2006/relationships/oleObject" Target="file:///C:\Users\ariel\Documents\case%20study\mental%20health%20analysis\UNI%20health%20dataset%20(version%201).xlsx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[UNI health dataset.xlsx]Sheet1!PivotTable3</c:name>
    <c:fmtId val="-1"/>
  </c:pivotSource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1" i="0" u="none" strike="noStrike" kern="1200" cap="all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Count</a:t>
            </a:r>
            <a:r>
              <a:rPr lang="en-US" baseline="0"/>
              <a:t> of anxiety</a:t>
            </a:r>
            <a:endParaRPr lang="en-US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1" i="0" u="none" strike="noStrike" kern="1200" cap="all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ivotFmts>
      <c:pivotFmt>
        <c:idx val="0"/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"/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"/>
        <c:spPr>
          <a:solidFill>
            <a:schemeClr val="accent1"/>
          </a:solidFill>
          <a:ln>
            <a:noFill/>
          </a:ln>
          <a:effectLst>
            <a:outerShdw blurRad="88900" sx="102000" sy="102000" algn="ctr" rotWithShape="0">
              <a:prstClr val="black">
                <a:alpha val="10000"/>
              </a:prstClr>
            </a:outerShdw>
          </a:effectLst>
          <a:scene3d>
            <a:camera prst="orthographicFront"/>
            <a:lightRig rig="threePt" dir="t"/>
          </a:scene3d>
          <a:sp3d>
            <a:bevelT w="127000" h="127000"/>
            <a:bevelB w="127000" h="127000"/>
          </a:sp3d>
        </c:spPr>
        <c:marker>
          <c:symbol val="circle"/>
          <c:size val="6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1000" b="1" i="0" u="none" strike="noStrike" kern="1200" spc="0" baseline="0">
                  <a:solidFill>
                    <a:schemeClr val="accent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outEnd"/>
          <c:showLegendKey val="0"/>
          <c:showVal val="1"/>
          <c:showCatName val="1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"/>
        <c:spPr>
          <a:solidFill>
            <a:schemeClr val="accent1"/>
          </a:solidFill>
          <a:ln>
            <a:noFill/>
          </a:ln>
          <a:effectLst>
            <a:outerShdw blurRad="88900" sx="102000" sy="102000" algn="ctr" rotWithShape="0">
              <a:prstClr val="black">
                <a:alpha val="10000"/>
              </a:prstClr>
            </a:outerShdw>
          </a:effectLst>
          <a:scene3d>
            <a:camera prst="orthographicFront"/>
            <a:lightRig rig="threePt" dir="t"/>
          </a:scene3d>
          <a:sp3d>
            <a:bevelT w="127000" h="127000"/>
            <a:bevelB w="127000" h="127000"/>
          </a:sp3d>
        </c:spP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1000" b="1" i="0" u="none" strike="noStrike" kern="1200" spc="0" baseline="0">
                  <a:solidFill>
                    <a:schemeClr val="accent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outEnd"/>
          <c:showLegendKey val="0"/>
          <c:showVal val="1"/>
          <c:showCatName val="1"/>
          <c:showSerName val="0"/>
          <c:showPercent val="0"/>
          <c:showBubbleSize val="0"/>
          <c:extLst>
            <c:ext xmlns:c15="http://schemas.microsoft.com/office/drawing/2012/chart" uri="{CE6537A1-D6FC-4f65-9D91-7224C49458BB}">
              <c15:xForSave val="1"/>
            </c:ext>
          </c:extLst>
        </c:dLbl>
      </c:pivotFmt>
      <c:pivotFmt>
        <c:idx val="6"/>
        <c:spPr>
          <a:solidFill>
            <a:schemeClr val="accent2"/>
          </a:solidFill>
          <a:ln>
            <a:noFill/>
          </a:ln>
          <a:effectLst>
            <a:outerShdw blurRad="88900" sx="102000" sy="102000" algn="ctr" rotWithShape="0">
              <a:prstClr val="black">
                <a:alpha val="10000"/>
              </a:prstClr>
            </a:outerShdw>
          </a:effectLst>
          <a:scene3d>
            <a:camera prst="orthographicFront"/>
            <a:lightRig rig="threePt" dir="t"/>
          </a:scene3d>
          <a:sp3d>
            <a:bevelT w="127000" h="127000"/>
            <a:bevelB w="127000" h="127000"/>
          </a:sp3d>
        </c:spP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1000" b="1" i="0" u="none" strike="noStrike" kern="1200" spc="0" baseline="0">
                  <a:solidFill>
                    <a:schemeClr val="accent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outEnd"/>
          <c:showLegendKey val="0"/>
          <c:showVal val="1"/>
          <c:showCatName val="1"/>
          <c:showSerName val="0"/>
          <c:showPercent val="0"/>
          <c:showBubbleSize val="0"/>
          <c:extLst>
            <c:ext xmlns:c15="http://schemas.microsoft.com/office/drawing/2012/chart" uri="{CE6537A1-D6FC-4f65-9D91-7224C49458BB}">
              <c15:xForSave val="1"/>
            </c:ext>
          </c:extLst>
        </c:dLbl>
      </c:pivotFmt>
      <c:pivotFmt>
        <c:idx val="7"/>
        <c:spPr>
          <a:solidFill>
            <a:schemeClr val="accent3"/>
          </a:solidFill>
          <a:ln>
            <a:noFill/>
          </a:ln>
          <a:effectLst>
            <a:outerShdw blurRad="88900" sx="102000" sy="102000" algn="ctr" rotWithShape="0">
              <a:prstClr val="black">
                <a:alpha val="10000"/>
              </a:prstClr>
            </a:outerShdw>
          </a:effectLst>
          <a:scene3d>
            <a:camera prst="orthographicFront"/>
            <a:lightRig rig="threePt" dir="t"/>
          </a:scene3d>
          <a:sp3d>
            <a:bevelT w="127000" h="127000"/>
            <a:bevelB w="127000" h="127000"/>
          </a:sp3d>
        </c:spP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1000" b="1" i="0" u="none" strike="noStrike" kern="1200" spc="0" baseline="0">
                  <a:solidFill>
                    <a:schemeClr val="accent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outEnd"/>
          <c:showLegendKey val="0"/>
          <c:showVal val="1"/>
          <c:showCatName val="1"/>
          <c:showSerName val="0"/>
          <c:showPercent val="0"/>
          <c:showBubbleSize val="0"/>
          <c:extLst>
            <c:ext xmlns:c15="http://schemas.microsoft.com/office/drawing/2012/chart" uri="{CE6537A1-D6FC-4f65-9D91-7224C49458BB}">
              <c15:xForSave val="1"/>
            </c:ext>
          </c:extLst>
        </c:dLbl>
      </c:pivotFmt>
      <c:pivotFmt>
        <c:idx val="8"/>
        <c:spPr>
          <a:solidFill>
            <a:schemeClr val="accent4"/>
          </a:solidFill>
          <a:ln>
            <a:noFill/>
          </a:ln>
          <a:effectLst>
            <a:outerShdw blurRad="88900" sx="102000" sy="102000" algn="ctr" rotWithShape="0">
              <a:prstClr val="black">
                <a:alpha val="10000"/>
              </a:prstClr>
            </a:outerShdw>
          </a:effectLst>
          <a:scene3d>
            <a:camera prst="orthographicFront"/>
            <a:lightRig rig="threePt" dir="t"/>
          </a:scene3d>
          <a:sp3d>
            <a:bevelT w="127000" h="127000"/>
            <a:bevelB w="127000" h="127000"/>
          </a:sp3d>
        </c:spP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1000" b="1" i="0" u="none" strike="noStrike" kern="1200" spc="0" baseline="0">
                  <a:solidFill>
                    <a:schemeClr val="accent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outEnd"/>
          <c:showLegendKey val="0"/>
          <c:showVal val="1"/>
          <c:showCatName val="1"/>
          <c:showSerName val="0"/>
          <c:showPercent val="0"/>
          <c:showBubbleSize val="0"/>
          <c:extLst>
            <c:ext xmlns:c15="http://schemas.microsoft.com/office/drawing/2012/chart" uri="{CE6537A1-D6FC-4f65-9D91-7224C49458BB}">
              <c15:xForSave val="1"/>
            </c:ext>
          </c:extLst>
        </c:dLbl>
      </c:pivotFmt>
      <c:pivotFmt>
        <c:idx val="9"/>
        <c:spPr>
          <a:solidFill>
            <a:schemeClr val="accent1"/>
          </a:solidFill>
          <a:ln>
            <a:noFill/>
          </a:ln>
          <a:effectLst>
            <a:outerShdw blurRad="88900" sx="102000" sy="102000" algn="ctr" rotWithShape="0">
              <a:prstClr val="black">
                <a:alpha val="10000"/>
              </a:prstClr>
            </a:outerShdw>
          </a:effectLst>
          <a:scene3d>
            <a:camera prst="orthographicFront"/>
            <a:lightRig rig="threePt" dir="t"/>
          </a:scene3d>
          <a:sp3d>
            <a:bevelT w="127000" h="127000"/>
            <a:bevelB w="127000" h="127000"/>
          </a:sp3d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1000" b="1" i="0" u="none" strike="noStrike" kern="1200" spc="0" baseline="0">
                  <a:solidFill>
                    <a:schemeClr val="accent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outEnd"/>
          <c:showLegendKey val="0"/>
          <c:showVal val="1"/>
          <c:showCatName val="1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0"/>
        <c:spPr>
          <a:solidFill>
            <a:schemeClr val="accent1"/>
          </a:solidFill>
          <a:ln>
            <a:noFill/>
          </a:ln>
          <a:effectLst>
            <a:outerShdw blurRad="88900" sx="102000" sy="102000" algn="ctr" rotWithShape="0">
              <a:prstClr val="black">
                <a:alpha val="10000"/>
              </a:prstClr>
            </a:outerShdw>
          </a:effectLst>
          <a:scene3d>
            <a:camera prst="orthographicFront"/>
            <a:lightRig rig="threePt" dir="t"/>
          </a:scene3d>
          <a:sp3d>
            <a:bevelT w="127000" h="127000"/>
            <a:bevelB w="127000" h="127000"/>
          </a:sp3d>
        </c:spP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1000" b="1" i="0" u="none" strike="noStrike" kern="1200" spc="0" baseline="0">
                  <a:solidFill>
                    <a:schemeClr val="accent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outEnd"/>
          <c:showLegendKey val="0"/>
          <c:showVal val="1"/>
          <c:showCatName val="1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1"/>
        <c:spPr>
          <a:solidFill>
            <a:schemeClr val="accent1"/>
          </a:solidFill>
          <a:ln>
            <a:noFill/>
          </a:ln>
          <a:effectLst>
            <a:outerShdw blurRad="88900" sx="102000" sy="102000" algn="ctr" rotWithShape="0">
              <a:prstClr val="black">
                <a:alpha val="10000"/>
              </a:prstClr>
            </a:outerShdw>
          </a:effectLst>
          <a:scene3d>
            <a:camera prst="orthographicFront"/>
            <a:lightRig rig="threePt" dir="t"/>
          </a:scene3d>
          <a:sp3d>
            <a:bevelT w="127000" h="127000"/>
            <a:bevelB w="127000" h="127000"/>
          </a:sp3d>
        </c:spP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1000" b="1" i="0" u="none" strike="noStrike" kern="1200" spc="0" baseline="0">
                  <a:solidFill>
                    <a:schemeClr val="accent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outEnd"/>
          <c:showLegendKey val="0"/>
          <c:showVal val="1"/>
          <c:showCatName val="1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2"/>
        <c:spPr>
          <a:solidFill>
            <a:schemeClr val="accent1"/>
          </a:solidFill>
          <a:ln>
            <a:noFill/>
          </a:ln>
          <a:effectLst>
            <a:outerShdw blurRad="88900" sx="102000" sy="102000" algn="ctr" rotWithShape="0">
              <a:prstClr val="black">
                <a:alpha val="10000"/>
              </a:prstClr>
            </a:outerShdw>
          </a:effectLst>
          <a:scene3d>
            <a:camera prst="orthographicFront"/>
            <a:lightRig rig="threePt" dir="t"/>
          </a:scene3d>
          <a:sp3d>
            <a:bevelT w="127000" h="127000"/>
            <a:bevelB w="127000" h="127000"/>
          </a:sp3d>
        </c:spP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1000" b="1" i="0" u="none" strike="noStrike" kern="1200" spc="0" baseline="0">
                  <a:solidFill>
                    <a:schemeClr val="accent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outEnd"/>
          <c:showLegendKey val="0"/>
          <c:showVal val="1"/>
          <c:showCatName val="1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3"/>
        <c:spPr>
          <a:solidFill>
            <a:schemeClr val="accent1"/>
          </a:solidFill>
          <a:ln>
            <a:noFill/>
          </a:ln>
          <a:effectLst>
            <a:outerShdw blurRad="88900" sx="102000" sy="102000" algn="ctr" rotWithShape="0">
              <a:prstClr val="black">
                <a:alpha val="10000"/>
              </a:prstClr>
            </a:outerShdw>
          </a:effectLst>
          <a:scene3d>
            <a:camera prst="orthographicFront"/>
            <a:lightRig rig="threePt" dir="t"/>
          </a:scene3d>
          <a:sp3d>
            <a:bevelT w="127000" h="127000"/>
            <a:bevelB w="127000" h="127000"/>
          </a:sp3d>
        </c:spP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1000" b="1" i="0" u="none" strike="noStrike" kern="1200" spc="0" baseline="0">
                  <a:solidFill>
                    <a:schemeClr val="accent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outEnd"/>
          <c:showLegendKey val="0"/>
          <c:showVal val="1"/>
          <c:showCatName val="1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4"/>
        <c:spPr>
          <a:solidFill>
            <a:schemeClr val="accent1"/>
          </a:solidFill>
          <a:ln>
            <a:noFill/>
          </a:ln>
          <a:effectLst>
            <a:outerShdw blurRad="88900" sx="102000" sy="102000" algn="ctr" rotWithShape="0">
              <a:prstClr val="black">
                <a:alpha val="10000"/>
              </a:prstClr>
            </a:outerShdw>
          </a:effectLst>
          <a:scene3d>
            <a:camera prst="orthographicFront"/>
            <a:lightRig rig="threePt" dir="t"/>
          </a:scene3d>
          <a:sp3d>
            <a:bevelT w="127000" h="127000"/>
            <a:bevelB w="127000" h="127000"/>
          </a:sp3d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1000" b="1" i="0" u="none" strike="noStrike" kern="1200" spc="0" baseline="0">
                  <a:solidFill>
                    <a:schemeClr val="accent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outEnd"/>
          <c:showLegendKey val="0"/>
          <c:showVal val="1"/>
          <c:showCatName val="1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5"/>
        <c:spPr>
          <a:solidFill>
            <a:schemeClr val="accent1"/>
          </a:solidFill>
          <a:ln>
            <a:noFill/>
          </a:ln>
          <a:effectLst>
            <a:outerShdw blurRad="88900" sx="102000" sy="102000" algn="ctr" rotWithShape="0">
              <a:prstClr val="black">
                <a:alpha val="10000"/>
              </a:prstClr>
            </a:outerShdw>
          </a:effectLst>
          <a:scene3d>
            <a:camera prst="orthographicFront"/>
            <a:lightRig rig="threePt" dir="t"/>
          </a:scene3d>
          <a:sp3d>
            <a:bevelT w="127000" h="127000"/>
            <a:bevelB w="127000" h="127000"/>
          </a:sp3d>
        </c:spP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1000" b="1" i="0" u="none" strike="noStrike" kern="1200" spc="0" baseline="0">
                  <a:solidFill>
                    <a:schemeClr val="accent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outEnd"/>
          <c:showLegendKey val="0"/>
          <c:showVal val="1"/>
          <c:showCatName val="1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6"/>
        <c:spPr>
          <a:solidFill>
            <a:schemeClr val="accent1"/>
          </a:solidFill>
          <a:ln>
            <a:noFill/>
          </a:ln>
          <a:effectLst>
            <a:outerShdw blurRad="88900" sx="102000" sy="102000" algn="ctr" rotWithShape="0">
              <a:prstClr val="black">
                <a:alpha val="10000"/>
              </a:prstClr>
            </a:outerShdw>
          </a:effectLst>
          <a:scene3d>
            <a:camera prst="orthographicFront"/>
            <a:lightRig rig="threePt" dir="t"/>
          </a:scene3d>
          <a:sp3d>
            <a:bevelT w="127000" h="127000"/>
            <a:bevelB w="127000" h="127000"/>
          </a:sp3d>
        </c:spP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1000" b="1" i="0" u="none" strike="noStrike" kern="1200" spc="0" baseline="0">
                  <a:solidFill>
                    <a:schemeClr val="accent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outEnd"/>
          <c:showLegendKey val="0"/>
          <c:showVal val="1"/>
          <c:showCatName val="1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7"/>
        <c:spPr>
          <a:solidFill>
            <a:schemeClr val="accent1"/>
          </a:solidFill>
          <a:ln>
            <a:noFill/>
          </a:ln>
          <a:effectLst>
            <a:outerShdw blurRad="88900" sx="102000" sy="102000" algn="ctr" rotWithShape="0">
              <a:prstClr val="black">
                <a:alpha val="10000"/>
              </a:prstClr>
            </a:outerShdw>
          </a:effectLst>
          <a:scene3d>
            <a:camera prst="orthographicFront"/>
            <a:lightRig rig="threePt" dir="t"/>
          </a:scene3d>
          <a:sp3d>
            <a:bevelT w="127000" h="127000"/>
            <a:bevelB w="127000" h="127000"/>
          </a:sp3d>
        </c:spP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1000" b="1" i="0" u="none" strike="noStrike" kern="1200" spc="0" baseline="0">
                  <a:solidFill>
                    <a:schemeClr val="accent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outEnd"/>
          <c:showLegendKey val="0"/>
          <c:showVal val="1"/>
          <c:showCatName val="1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8"/>
        <c:spPr>
          <a:solidFill>
            <a:schemeClr val="accent1"/>
          </a:solidFill>
          <a:ln>
            <a:noFill/>
          </a:ln>
          <a:effectLst>
            <a:outerShdw blurRad="88900" sx="102000" sy="102000" algn="ctr" rotWithShape="0">
              <a:prstClr val="black">
                <a:alpha val="10000"/>
              </a:prstClr>
            </a:outerShdw>
          </a:effectLst>
          <a:scene3d>
            <a:camera prst="orthographicFront"/>
            <a:lightRig rig="threePt" dir="t"/>
          </a:scene3d>
          <a:sp3d>
            <a:bevelT w="127000" h="127000"/>
            <a:bevelB w="127000" h="127000"/>
          </a:sp3d>
        </c:spP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1000" b="1" i="0" u="none" strike="noStrike" kern="1200" spc="0" baseline="0">
                  <a:solidFill>
                    <a:schemeClr val="accent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outEnd"/>
          <c:showLegendKey val="0"/>
          <c:showVal val="1"/>
          <c:showCatName val="1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/>
      <c:pie3DChart>
        <c:varyColors val="1"/>
        <c:ser>
          <c:idx val="0"/>
          <c:order val="0"/>
          <c:tx>
            <c:strRef>
              <c:f>Sheet1!$B$9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>
                <a:noFill/>
              </a:ln>
              <a:effectLst>
                <a:outerShdw blurRad="88900" sx="102000" sy="102000" algn="ctr" rotWithShape="0">
                  <a:prstClr val="black">
                    <a:alpha val="10000"/>
                  </a:prstClr>
                </a:outerShdw>
              </a:effectLst>
              <a:scene3d>
                <a:camera prst="orthographicFront"/>
                <a:lightRig rig="threePt" dir="t"/>
              </a:scene3d>
              <a:sp3d>
                <a:bevelT w="127000" h="127000"/>
                <a:bevelB w="127000" h="127000"/>
              </a:sp3d>
            </c:spPr>
            <c:extLst>
              <c:ext xmlns:c16="http://schemas.microsoft.com/office/drawing/2014/chart" uri="{C3380CC4-5D6E-409C-BE32-E72D297353CC}">
                <c16:uniqueId val="{00000001-3CD6-41AE-BFD7-A41E4FDA1E44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>
                <a:noFill/>
              </a:ln>
              <a:effectLst>
                <a:outerShdw blurRad="88900" sx="102000" sy="102000" algn="ctr" rotWithShape="0">
                  <a:prstClr val="black">
                    <a:alpha val="10000"/>
                  </a:prstClr>
                </a:outerShdw>
              </a:effectLst>
              <a:scene3d>
                <a:camera prst="orthographicFront"/>
                <a:lightRig rig="threePt" dir="t"/>
              </a:scene3d>
              <a:sp3d>
                <a:bevelT w="127000" h="127000"/>
                <a:bevelB w="127000" h="127000"/>
              </a:sp3d>
            </c:spPr>
            <c:extLst>
              <c:ext xmlns:c16="http://schemas.microsoft.com/office/drawing/2014/chart" uri="{C3380CC4-5D6E-409C-BE32-E72D297353CC}">
                <c16:uniqueId val="{00000003-3CD6-41AE-BFD7-A41E4FDA1E44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>
                <a:noFill/>
              </a:ln>
              <a:effectLst>
                <a:outerShdw blurRad="88900" sx="102000" sy="102000" algn="ctr" rotWithShape="0">
                  <a:prstClr val="black">
                    <a:alpha val="10000"/>
                  </a:prstClr>
                </a:outerShdw>
              </a:effectLst>
              <a:scene3d>
                <a:camera prst="orthographicFront"/>
                <a:lightRig rig="threePt" dir="t"/>
              </a:scene3d>
              <a:sp3d>
                <a:bevelT w="127000" h="127000"/>
                <a:bevelB w="127000" h="127000"/>
              </a:sp3d>
            </c:spPr>
            <c:extLst>
              <c:ext xmlns:c16="http://schemas.microsoft.com/office/drawing/2014/chart" uri="{C3380CC4-5D6E-409C-BE32-E72D297353CC}">
                <c16:uniqueId val="{00000005-3CD6-41AE-BFD7-A41E4FDA1E44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>
                <a:noFill/>
              </a:ln>
              <a:effectLst>
                <a:outerShdw blurRad="88900" sx="102000" sy="102000" algn="ctr" rotWithShape="0">
                  <a:prstClr val="black">
                    <a:alpha val="10000"/>
                  </a:prstClr>
                </a:outerShdw>
              </a:effectLst>
              <a:scene3d>
                <a:camera prst="orthographicFront"/>
                <a:lightRig rig="threePt" dir="t"/>
              </a:scene3d>
              <a:sp3d>
                <a:bevelT w="127000" h="127000"/>
                <a:bevelB w="127000" h="127000"/>
              </a:sp3d>
            </c:spPr>
            <c:extLst>
              <c:ext xmlns:c16="http://schemas.microsoft.com/office/drawing/2014/chart" uri="{C3380CC4-5D6E-409C-BE32-E72D297353CC}">
                <c16:uniqueId val="{00000007-3CD6-41AE-BFD7-A41E4FDA1E44}"/>
              </c:ext>
            </c:extLst>
          </c:dPt>
          <c:dLbls>
            <c:dLbl>
              <c:idx val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000" b="1" i="0" u="none" strike="noStrike" kern="1200" spc="0" baseline="0">
                      <a:solidFill>
                        <a:schemeClr val="accent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outEnd"/>
              <c:showLegendKey val="0"/>
              <c:showVal val="1"/>
              <c:showCatName val="1"/>
              <c:showSerName val="0"/>
              <c:showPercent val="1"/>
              <c:showBubbleSize val="0"/>
              <c:extLst>
                <c:ext xmlns:c16="http://schemas.microsoft.com/office/drawing/2014/chart" uri="{C3380CC4-5D6E-409C-BE32-E72D297353CC}">
                  <c16:uniqueId val="{00000001-3CD6-41AE-BFD7-A41E4FDA1E44}"/>
                </c:ext>
              </c:extLst>
            </c:dLbl>
            <c:dLbl>
              <c:idx val="1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000" b="1" i="0" u="none" strike="noStrike" kern="1200" spc="0" baseline="0">
                      <a:solidFill>
                        <a:schemeClr val="accent2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outEnd"/>
              <c:showLegendKey val="0"/>
              <c:showVal val="1"/>
              <c:showCatName val="1"/>
              <c:showSerName val="0"/>
              <c:showPercent val="1"/>
              <c:showBubbleSize val="0"/>
              <c:extLst>
                <c:ext xmlns:c16="http://schemas.microsoft.com/office/drawing/2014/chart" uri="{C3380CC4-5D6E-409C-BE32-E72D297353CC}">
                  <c16:uniqueId val="{00000003-3CD6-41AE-BFD7-A41E4FDA1E44}"/>
                </c:ext>
              </c:extLst>
            </c:dLbl>
            <c:dLbl>
              <c:idx val="2"/>
              <c:layout>
                <c:manualLayout>
                  <c:x val="9.7222222222222224E-2"/>
                  <c:y val="0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000" b="1" i="0" u="none" strike="noStrike" kern="1200" spc="0" baseline="0">
                      <a:solidFill>
                        <a:schemeClr val="accent3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bestFit"/>
              <c:showLegendKey val="0"/>
              <c:showVal val="1"/>
              <c:showCatName val="1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3CD6-41AE-BFD7-A41E4FDA1E44}"/>
                </c:ext>
              </c:extLst>
            </c:dLbl>
            <c:dLbl>
              <c:idx val="3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000" b="1" i="0" u="none" strike="noStrike" kern="1200" spc="0" baseline="0">
                      <a:solidFill>
                        <a:schemeClr val="accent4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outEnd"/>
              <c:showLegendKey val="0"/>
              <c:showVal val="1"/>
              <c:showCatName val="1"/>
              <c:showSerName val="0"/>
              <c:showPercent val="1"/>
              <c:showBubbleSize val="0"/>
              <c:extLst>
                <c:ext xmlns:c16="http://schemas.microsoft.com/office/drawing/2014/chart" uri="{C3380CC4-5D6E-409C-BE32-E72D297353CC}">
                  <c16:uniqueId val="{00000007-3CD6-41AE-BFD7-A41E4FDA1E44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000" b="1" i="0" u="none" strike="noStrike" kern="1200" spc="0" baseline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1"/>
            <c:showSerName val="0"/>
            <c:showPercent val="1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Sheet1!$A$10:$A$14</c:f>
              <c:strCache>
                <c:ptCount val="4"/>
                <c:pt idx="0">
                  <c:v>Mild Anxiety</c:v>
                </c:pt>
                <c:pt idx="1">
                  <c:v>Minimal Anxiety</c:v>
                </c:pt>
                <c:pt idx="2">
                  <c:v>Moderate Anxiety</c:v>
                </c:pt>
                <c:pt idx="3">
                  <c:v>Severe Anxiety</c:v>
                </c:pt>
              </c:strCache>
            </c:strRef>
          </c:cat>
          <c:val>
            <c:numRef>
              <c:f>Sheet1!$B$10:$B$14</c:f>
              <c:numCache>
                <c:formatCode>General</c:formatCode>
                <c:ptCount val="4"/>
                <c:pt idx="0">
                  <c:v>495</c:v>
                </c:pt>
                <c:pt idx="1">
                  <c:v>158</c:v>
                </c:pt>
                <c:pt idx="2">
                  <c:v>610</c:v>
                </c:pt>
                <c:pt idx="3">
                  <c:v>714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3CD6-41AE-BFD7-A41E4FDA1E44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  <c:extLst>
    <c:ext xmlns:c14="http://schemas.microsoft.com/office/drawing/2007/8/2/chart" uri="{781A3756-C4B2-4CAC-9D66-4F8BD8637D16}">
      <c14:pivotOptions>
        <c14:dropZoneFilter val="1"/>
        <c14:dropZoneData val="1"/>
        <c14:dropZoneSeries val="1"/>
        <c14:dropZonesVisible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1" i="0" u="none" strike="noStrike" kern="1200" spc="100" baseline="0">
                <a:solidFill>
                  <a:schemeClr val="lt1">
                    <a:lumMod val="95000"/>
                  </a:schemeClr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+mn-lt"/>
                <a:ea typeface="+mn-ea"/>
                <a:cs typeface="+mn-cs"/>
              </a:defRPr>
            </a:pPr>
            <a:r>
              <a:rPr lang="en-NZ" sz="1600" b="1" i="0" u="none" strike="noStrike" baseline="0"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</a:rPr>
              <a:t>Prevalence of </a:t>
            </a:r>
            <a:r>
              <a:rPr lang="en-NZ"/>
              <a:t>Severe  Anxiety in Age Group 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1" i="0" u="none" strike="noStrike" kern="1200" spc="100" baseline="0">
              <a:solidFill>
                <a:schemeClr val="lt1">
                  <a:lumMod val="95000"/>
                </a:schemeClr>
              </a:soli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view3D>
      <c:rotX val="15"/>
      <c:rotY val="20"/>
      <c:depthPercent val="100"/>
      <c:rAngAx val="1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/>
      <c:bar3DChart>
        <c:barDir val="col"/>
        <c:grouping val="percentStacked"/>
        <c:varyColors val="0"/>
        <c:ser>
          <c:idx val="0"/>
          <c:order val="0"/>
          <c:tx>
            <c:strRef>
              <c:f>Sheet1!$B$37</c:f>
              <c:strCache>
                <c:ptCount val="1"/>
                <c:pt idx="0">
                  <c:v>Count of Severe Anxiety Label</c:v>
                </c:pt>
              </c:strCache>
            </c:strRef>
          </c:tx>
          <c:spPr>
            <a:solidFill>
              <a:srgbClr val="0070C0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  <a:sp3d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endParaRPr lang="en-NZ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0-80A4-4A15-A9A0-864893BA25D4}"/>
                </c:ext>
              </c:extLst>
            </c:dLbl>
            <c:dLbl>
              <c:idx val="1"/>
              <c:tx>
                <c:rich>
                  <a:bodyPr rot="0" spcFirstLastPara="1" vertOverflow="ellipsis" vert="horz" wrap="square" lIns="38100" tIns="19050" rIns="38100" bIns="19050" anchor="ctr" anchorCtr="1">
                    <a:noAutofit/>
                  </a:bodyPr>
                  <a:lstStyle/>
                  <a:p>
                    <a:pPr>
                      <a:defRPr sz="900" b="0" i="0" u="none" strike="noStrike" kern="1200" baseline="0">
                        <a:ln w="0">
                          <a:solidFill>
                            <a:schemeClr val="bg1"/>
                          </a:solidFill>
                        </a:ln>
                        <a:solidFill>
                          <a:schemeClr val="lt1">
                            <a:lumMod val="85000"/>
                            <a:alpha val="98000"/>
                          </a:schemeClr>
                        </a:solidFill>
                        <a:latin typeface="+mn-lt"/>
                        <a:ea typeface="+mn-ea"/>
                        <a:cs typeface="+mn-cs"/>
                      </a:defRPr>
                    </a:pPr>
                    <a:fld id="{B9FB094C-525A-4DC9-9AC4-FB2D33D3E2DC}" type="CELLRANGE">
                      <a:rPr lang="en-US"/>
                      <a:pPr>
                        <a:defRPr>
                          <a:ln w="0">
                            <a:solidFill>
                              <a:schemeClr val="bg1"/>
                            </a:solidFill>
                          </a:ln>
                          <a:solidFill>
                            <a:schemeClr val="lt1">
                              <a:lumMod val="85000"/>
                              <a:alpha val="98000"/>
                            </a:schemeClr>
                          </a:solidFill>
                        </a:defRPr>
                      </a:pPr>
                      <a:t>[CELLRANGE]</a:t>
                    </a:fld>
                    <a:r>
                      <a:rPr lang="en-US" baseline="0"/>
                      <a:t> </a:t>
                    </a:r>
                    <a:fld id="{43AE818D-6681-4060-8D3C-581D6C4E4B73}" type="VALUE">
                      <a:rPr lang="en-US" baseline="0"/>
                      <a:pPr>
                        <a:defRPr>
                          <a:ln w="0">
                            <a:solidFill>
                              <a:schemeClr val="bg1"/>
                            </a:solidFill>
                          </a:ln>
                          <a:solidFill>
                            <a:schemeClr val="lt1">
                              <a:lumMod val="85000"/>
                              <a:alpha val="98000"/>
                            </a:schemeClr>
                          </a:solidFill>
                        </a:defRPr>
                      </a:pPr>
                      <a:t>[VALUE]</a:t>
                    </a:fld>
                    <a:endParaRPr lang="en-US" baseline="0"/>
                  </a:p>
                </c:rich>
              </c:tx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900" b="0" i="0" u="none" strike="noStrike" kern="1200" baseline="0">
                      <a:ln w="0">
                        <a:solidFill>
                          <a:schemeClr val="bg1"/>
                        </a:solidFill>
                      </a:ln>
                      <a:solidFill>
                        <a:schemeClr val="lt1">
                          <a:lumMod val="85000"/>
                          <a:alpha val="98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2782041998551771"/>
                      <c:h val="0.13416124997798093"/>
                    </c:manualLayout>
                  </c15:layout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1-80A4-4A15-A9A0-864893BA25D4}"/>
                </c:ext>
              </c:extLst>
            </c:dLbl>
            <c:dLbl>
              <c:idx val="2"/>
              <c:tx>
                <c:rich>
                  <a:bodyPr rot="0" spcFirstLastPara="1" vertOverflow="ellipsis" vert="horz" wrap="square" lIns="38100" tIns="19050" rIns="38100" bIns="19050" anchor="ctr" anchorCtr="1">
                    <a:noAutofit/>
                  </a:bodyPr>
                  <a:lstStyle/>
                  <a:p>
                    <a:pPr>
                      <a:defRPr sz="900" b="0" i="0" u="none" strike="noStrike" kern="1200" baseline="0">
                        <a:ln w="0">
                          <a:solidFill>
                            <a:schemeClr val="bg1"/>
                          </a:solidFill>
                        </a:ln>
                        <a:solidFill>
                          <a:schemeClr val="lt1">
                            <a:lumMod val="85000"/>
                            <a:alpha val="98000"/>
                          </a:schemeClr>
                        </a:solidFill>
                        <a:latin typeface="+mn-lt"/>
                        <a:ea typeface="+mn-ea"/>
                        <a:cs typeface="+mn-cs"/>
                      </a:defRPr>
                    </a:pPr>
                    <a:fld id="{F271EC4B-A7B8-46F7-AF18-9C7B1E14C1DC}" type="CELLRANGE">
                      <a:rPr lang="en-US"/>
                      <a:pPr>
                        <a:defRPr>
                          <a:ln w="0">
                            <a:solidFill>
                              <a:schemeClr val="bg1"/>
                            </a:solidFill>
                          </a:ln>
                          <a:solidFill>
                            <a:schemeClr val="lt1">
                              <a:lumMod val="85000"/>
                              <a:alpha val="98000"/>
                            </a:schemeClr>
                          </a:solidFill>
                        </a:defRPr>
                      </a:pPr>
                      <a:t>[CELLRANGE]</a:t>
                    </a:fld>
                    <a:r>
                      <a:rPr lang="en-US" baseline="0"/>
                      <a:t> </a:t>
                    </a:r>
                    <a:fld id="{416564C9-215E-4D3B-9CD4-778FBBED9186}" type="VALUE">
                      <a:rPr lang="en-US" baseline="0"/>
                      <a:pPr>
                        <a:defRPr>
                          <a:ln w="0">
                            <a:solidFill>
                              <a:schemeClr val="bg1"/>
                            </a:solidFill>
                          </a:ln>
                          <a:solidFill>
                            <a:schemeClr val="lt1">
                              <a:lumMod val="85000"/>
                              <a:alpha val="98000"/>
                            </a:schemeClr>
                          </a:solidFill>
                        </a:defRPr>
                      </a:pPr>
                      <a:t>[VALUE]</a:t>
                    </a:fld>
                    <a:endParaRPr lang="en-US" baseline="0"/>
                  </a:p>
                </c:rich>
              </c:tx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900" b="0" i="0" u="none" strike="noStrike" kern="1200" baseline="0">
                      <a:ln w="0">
                        <a:solidFill>
                          <a:schemeClr val="bg1"/>
                        </a:solidFill>
                      </a:ln>
                      <a:solidFill>
                        <a:schemeClr val="lt1">
                          <a:lumMod val="85000"/>
                          <a:alpha val="98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1044170890658941"/>
                      <c:h val="0.12073843118603463"/>
                    </c:manualLayout>
                  </c15:layout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2-80A4-4A15-A9A0-864893BA25D4}"/>
                </c:ext>
              </c:extLst>
            </c:dLbl>
            <c:dLbl>
              <c:idx val="3"/>
              <c:tx>
                <c:rich>
                  <a:bodyPr rot="0" spcFirstLastPara="1" vertOverflow="ellipsis" vert="horz" wrap="square" lIns="38100" tIns="19050" rIns="38100" bIns="19050" anchor="ctr" anchorCtr="1">
                    <a:noAutofit/>
                  </a:bodyPr>
                  <a:lstStyle/>
                  <a:p>
                    <a:pPr>
                      <a:defRPr sz="900" b="0" i="0" u="none" strike="noStrike" kern="1200" baseline="0">
                        <a:ln w="0">
                          <a:solidFill>
                            <a:schemeClr val="bg1"/>
                          </a:solidFill>
                        </a:ln>
                        <a:solidFill>
                          <a:schemeClr val="lt1">
                            <a:lumMod val="85000"/>
                            <a:alpha val="98000"/>
                          </a:schemeClr>
                        </a:solidFill>
                        <a:latin typeface="+mn-lt"/>
                        <a:ea typeface="+mn-ea"/>
                        <a:cs typeface="+mn-cs"/>
                      </a:defRPr>
                    </a:pPr>
                    <a:fld id="{2E17A3ED-C642-4974-B1AA-975D0B724D36}" type="CELLRANGE">
                      <a:rPr lang="en-US"/>
                      <a:pPr>
                        <a:defRPr>
                          <a:ln w="0">
                            <a:solidFill>
                              <a:schemeClr val="bg1"/>
                            </a:solidFill>
                          </a:ln>
                          <a:solidFill>
                            <a:schemeClr val="lt1">
                              <a:lumMod val="85000"/>
                              <a:alpha val="98000"/>
                            </a:schemeClr>
                          </a:solidFill>
                        </a:defRPr>
                      </a:pPr>
                      <a:t>[CELLRANGE]</a:t>
                    </a:fld>
                    <a:fld id="{215135C2-5F40-4AF9-8BF9-00CB65509B36}" type="VALUE">
                      <a:rPr lang="en-US" baseline="0"/>
                      <a:pPr>
                        <a:defRPr>
                          <a:ln w="0">
                            <a:solidFill>
                              <a:schemeClr val="bg1"/>
                            </a:solidFill>
                          </a:ln>
                          <a:solidFill>
                            <a:schemeClr val="lt1">
                              <a:lumMod val="85000"/>
                              <a:alpha val="98000"/>
                            </a:schemeClr>
                          </a:solidFill>
                        </a:defRPr>
                      </a:pPr>
                      <a:t>[VALUE]</a:t>
                    </a:fld>
                    <a:endParaRPr lang="en-NZ"/>
                  </a:p>
                </c:rich>
              </c:tx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900" b="0" i="0" u="none" strike="noStrike" kern="1200" baseline="0">
                      <a:ln w="0">
                        <a:solidFill>
                          <a:schemeClr val="bg1"/>
                        </a:solidFill>
                      </a:ln>
                      <a:solidFill>
                        <a:schemeClr val="lt1">
                          <a:lumMod val="85000"/>
                          <a:alpha val="98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NZ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9.8508327299058646E-2"/>
                      <c:h val="0.12521270411668339"/>
                    </c:manualLayout>
                  </c15:layout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3-80A4-4A15-A9A0-864893BA25D4}"/>
                </c:ext>
              </c:extLst>
            </c:dLbl>
            <c:dLbl>
              <c:idx val="4"/>
              <c:tx>
                <c:rich>
                  <a:bodyPr rot="0" spcFirstLastPara="1" vertOverflow="ellipsis" vert="horz" wrap="square" lIns="38100" tIns="19050" rIns="38100" bIns="19050" anchor="ctr" anchorCtr="1">
                    <a:noAutofit/>
                  </a:bodyPr>
                  <a:lstStyle/>
                  <a:p>
                    <a:pPr>
                      <a:defRPr sz="900" b="0" i="0" u="none" strike="noStrike" kern="1200" baseline="0">
                        <a:ln w="0">
                          <a:solidFill>
                            <a:schemeClr val="bg1"/>
                          </a:solidFill>
                        </a:ln>
                        <a:solidFill>
                          <a:schemeClr val="lt1">
                            <a:lumMod val="85000"/>
                            <a:alpha val="98000"/>
                          </a:schemeClr>
                        </a:solidFill>
                        <a:latin typeface="+mn-lt"/>
                        <a:ea typeface="+mn-ea"/>
                        <a:cs typeface="+mn-cs"/>
                      </a:defRPr>
                    </a:pPr>
                    <a:fld id="{8B772E50-8F70-4E43-B60B-71353C14D7F3}" type="CELLRANGE">
                      <a:rPr lang="en-US"/>
                      <a:pPr>
                        <a:defRPr>
                          <a:ln w="0">
                            <a:solidFill>
                              <a:schemeClr val="bg1"/>
                            </a:solidFill>
                          </a:ln>
                          <a:solidFill>
                            <a:schemeClr val="lt1">
                              <a:lumMod val="85000"/>
                              <a:alpha val="98000"/>
                            </a:schemeClr>
                          </a:solidFill>
                        </a:defRPr>
                      </a:pPr>
                      <a:t>[CELLRANGE]</a:t>
                    </a:fld>
                    <a:r>
                      <a:rPr lang="en-US" baseline="0"/>
                      <a:t> </a:t>
                    </a:r>
                    <a:fld id="{89557CF9-3BA1-4684-BD10-5E5A7C92EE92}" type="VALUE">
                      <a:rPr lang="en-US" baseline="0"/>
                      <a:pPr>
                        <a:defRPr>
                          <a:ln w="0">
                            <a:solidFill>
                              <a:schemeClr val="bg1"/>
                            </a:solidFill>
                          </a:ln>
                          <a:solidFill>
                            <a:schemeClr val="lt1">
                              <a:lumMod val="85000"/>
                              <a:alpha val="98000"/>
                            </a:schemeClr>
                          </a:solidFill>
                        </a:defRPr>
                      </a:pPr>
                      <a:t>[VALUE]</a:t>
                    </a:fld>
                    <a:endParaRPr lang="en-US" baseline="0"/>
                  </a:p>
                </c:rich>
              </c:tx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900" b="0" i="0" u="none" strike="noStrike" kern="1200" baseline="0">
                      <a:ln w="0">
                        <a:solidFill>
                          <a:schemeClr val="bg1"/>
                        </a:solidFill>
                      </a:ln>
                      <a:solidFill>
                        <a:schemeClr val="lt1">
                          <a:lumMod val="85000"/>
                          <a:alpha val="98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1299058653149892"/>
                      <c:h val="0.12968697704733217"/>
                    </c:manualLayout>
                  </c15:layout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4-80A4-4A15-A9A0-864893BA25D4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ln w="0">
                      <a:solidFill>
                        <a:schemeClr val="bg1"/>
                      </a:solidFill>
                    </a:ln>
                    <a:solidFill>
                      <a:schemeClr val="lt1">
                        <a:lumMod val="85000"/>
                        <a:alpha val="98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DataLabelsRange val="1"/>
                <c15:showLeaderLines val="1"/>
                <c15:leaderLines>
                  <c:spPr>
                    <a:ln w="9525">
                      <a:solidFill>
                        <a:schemeClr val="lt1">
                          <a:lumMod val="95000"/>
                          <a:alpha val="54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Sheet1!$A$38:$A$42</c:f>
              <c:strCache>
                <c:ptCount val="5"/>
                <c:pt idx="0">
                  <c:v>Below 18</c:v>
                </c:pt>
                <c:pt idx="1">
                  <c:v>18-22</c:v>
                </c:pt>
                <c:pt idx="2">
                  <c:v>23-26</c:v>
                </c:pt>
                <c:pt idx="3">
                  <c:v>27-30</c:v>
                </c:pt>
                <c:pt idx="4">
                  <c:v>Above 30</c:v>
                </c:pt>
              </c:strCache>
              <c:extLst/>
            </c:strRef>
          </c:cat>
          <c:val>
            <c:numRef>
              <c:f>Sheet1!$B$38:$B$42</c:f>
              <c:numCache>
                <c:formatCode>General</c:formatCode>
                <c:ptCount val="5"/>
                <c:pt idx="1">
                  <c:v>472</c:v>
                </c:pt>
                <c:pt idx="2">
                  <c:v>233</c:v>
                </c:pt>
                <c:pt idx="3">
                  <c:v>8</c:v>
                </c:pt>
                <c:pt idx="4">
                  <c:v>1</c:v>
                </c:pt>
              </c:numCache>
              <c:extLst/>
            </c:numRef>
          </c:val>
          <c:extLst>
            <c:ext xmlns:c15="http://schemas.microsoft.com/office/drawing/2012/chart" uri="{02D57815-91ED-43cb-92C2-25804820EDAC}">
              <c15:datalabelsRange>
                <c15:f>Sheet1!$D$38:$D$43</c15:f>
                <c15:dlblRangeCache>
                  <c:ptCount val="6"/>
                  <c:pt idx="0">
                    <c:v>0.00%</c:v>
                  </c:pt>
                  <c:pt idx="1">
                    <c:v>37.08%</c:v>
                  </c:pt>
                  <c:pt idx="2">
                    <c:v>34.62%</c:v>
                  </c:pt>
                  <c:pt idx="3">
                    <c:v>33.33%</c:v>
                  </c:pt>
                  <c:pt idx="4">
                    <c:v>33.33%</c:v>
                  </c:pt>
                  <c:pt idx="5">
                    <c:v>36.12%</c:v>
                  </c:pt>
                </c15:dlblRangeCache>
              </c15:datalabelsRange>
            </c:ext>
            <c:ext xmlns:c16="http://schemas.microsoft.com/office/drawing/2014/chart" uri="{C3380CC4-5D6E-409C-BE32-E72D297353CC}">
              <c16:uniqueId val="{00000005-80A4-4A15-A9A0-864893BA25D4}"/>
            </c:ext>
          </c:extLst>
        </c:ser>
        <c:ser>
          <c:idx val="1"/>
          <c:order val="1"/>
          <c:tx>
            <c:strRef>
              <c:f>Sheet1!$C$37</c:f>
              <c:strCache>
                <c:ptCount val="1"/>
                <c:pt idx="0">
                  <c:v>Total Count of  Anxiety Label</c:v>
                </c:pt>
              </c:strCache>
            </c:strRef>
          </c:tx>
          <c:spPr>
            <a:gradFill rotWithShape="1">
              <a:gsLst>
                <a:gs pos="0">
                  <a:schemeClr val="accent2">
                    <a:satMod val="103000"/>
                    <a:lumMod val="102000"/>
                    <a:tint val="94000"/>
                  </a:schemeClr>
                </a:gs>
                <a:gs pos="50000">
                  <a:schemeClr val="accent2">
                    <a:satMod val="110000"/>
                    <a:lumMod val="100000"/>
                    <a:shade val="100000"/>
                  </a:schemeClr>
                </a:gs>
                <a:gs pos="100000">
                  <a:schemeClr val="accent2">
                    <a:lumMod val="99000"/>
                    <a:satMod val="120000"/>
                    <a:shade val="78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  <a:sp3d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lt1">
                        <a:lumMod val="8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lt1">
                          <a:lumMod val="95000"/>
                          <a:alpha val="54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Sheet1!$A$38:$A$42</c:f>
              <c:strCache>
                <c:ptCount val="5"/>
                <c:pt idx="0">
                  <c:v>Below 18</c:v>
                </c:pt>
                <c:pt idx="1">
                  <c:v>18-22</c:v>
                </c:pt>
                <c:pt idx="2">
                  <c:v>23-26</c:v>
                </c:pt>
                <c:pt idx="3">
                  <c:v>27-30</c:v>
                </c:pt>
                <c:pt idx="4">
                  <c:v>Above 30</c:v>
                </c:pt>
              </c:strCache>
              <c:extLst/>
            </c:strRef>
          </c:cat>
          <c:val>
            <c:numRef>
              <c:f>Sheet1!$C$38:$C$42</c:f>
              <c:numCache>
                <c:formatCode>General</c:formatCode>
                <c:ptCount val="5"/>
                <c:pt idx="0">
                  <c:v>4</c:v>
                </c:pt>
                <c:pt idx="1">
                  <c:v>1273</c:v>
                </c:pt>
                <c:pt idx="2">
                  <c:v>673</c:v>
                </c:pt>
                <c:pt idx="3">
                  <c:v>24</c:v>
                </c:pt>
                <c:pt idx="4">
                  <c:v>3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6-80A4-4A15-A9A0-864893BA25D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shape val="box"/>
        <c:axId val="2085050320"/>
        <c:axId val="2085037360"/>
        <c:axId val="0"/>
        <c:extLst>
          <c:ext xmlns:c15="http://schemas.microsoft.com/office/drawing/2012/chart" uri="{02D57815-91ED-43cb-92C2-25804820EDAC}">
            <c15:filteredBarSeries>
              <c15:ser>
                <c:idx val="2"/>
                <c:order val="2"/>
                <c:tx>
                  <c:strRef>
                    <c:extLst>
                      <c:ext uri="{02D57815-91ED-43cb-92C2-25804820EDAC}">
                        <c15:formulaRef>
                          <c15:sqref>Sheet1!$D$37</c15:sqref>
                        </c15:formulaRef>
                      </c:ext>
                    </c:extLst>
                    <c:strCache>
                      <c:ptCount val="1"/>
                      <c:pt idx="0">
                        <c:v>Count of Serve Anxiety </c:v>
                      </c:pt>
                    </c:strCache>
                  </c:strRef>
                </c:tx>
                <c:spPr>
                  <a:gradFill rotWithShape="1">
                    <a:gsLst>
                      <a:gs pos="0">
                        <a:schemeClr val="accent3">
                          <a:satMod val="103000"/>
                          <a:lumMod val="102000"/>
                          <a:tint val="94000"/>
                        </a:schemeClr>
                      </a:gs>
                      <a:gs pos="50000">
                        <a:schemeClr val="accent3">
                          <a:satMod val="110000"/>
                          <a:lumMod val="100000"/>
                          <a:shade val="100000"/>
                        </a:schemeClr>
                      </a:gs>
                      <a:gs pos="100000">
                        <a:schemeClr val="accent3">
                          <a:lumMod val="99000"/>
                          <a:satMod val="120000"/>
                          <a:shade val="78000"/>
                        </a:schemeClr>
                      </a:gs>
                    </a:gsLst>
                    <a:lin ang="5400000" scaled="0"/>
                  </a:gradFill>
                  <a:ln>
                    <a:noFill/>
                  </a:ln>
                  <a:effectLst>
                    <a:outerShdw blurRad="57150" dist="19050" dir="5400000" algn="ctr" rotWithShape="0">
                      <a:srgbClr val="000000">
                        <a:alpha val="63000"/>
                      </a:srgbClr>
                    </a:outerShdw>
                  </a:effectLst>
                  <a:sp3d/>
                </c:spPr>
                <c:invertIfNegative val="0"/>
                <c:dLbls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1" vertOverflow="ellipsis" vert="horz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sz="900" b="0" i="0" u="none" strike="noStrike" kern="1200" baseline="0">
                          <a:solidFill>
                            <a:schemeClr val="lt1">
                              <a:lumMod val="85000"/>
                            </a:schemeClr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  <a:endParaRPr lang="en-US"/>
                    </a:p>
                  </c:txPr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uri="{CE6537A1-D6FC-4f65-9D91-7224C49458BB}">
                      <c15:showLeaderLines val="1"/>
                      <c15:leaderLines>
                        <c:spPr>
                          <a:ln w="9525">
                            <a:solidFill>
                              <a:schemeClr val="lt1">
                                <a:lumMod val="95000"/>
                                <a:alpha val="54000"/>
                              </a:schemeClr>
                            </a:solidFill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ormulaRef>
                          <c15:sqref>Sheet1!$A$38:$A$42</c15:sqref>
                        </c15:formulaRef>
                      </c:ext>
                    </c:extLst>
                    <c:strCache>
                      <c:ptCount val="5"/>
                      <c:pt idx="0">
                        <c:v>Below 18</c:v>
                      </c:pt>
                      <c:pt idx="1">
                        <c:v>18-22</c:v>
                      </c:pt>
                      <c:pt idx="2">
                        <c:v>23-26</c:v>
                      </c:pt>
                      <c:pt idx="3">
                        <c:v>27-30</c:v>
                      </c:pt>
                      <c:pt idx="4">
                        <c:v>Above 30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Sheet1!$D$38:$D$42</c15:sqref>
                        </c15:formulaRef>
                      </c:ext>
                    </c:extLst>
                    <c:numCache>
                      <c:formatCode>0.00%</c:formatCode>
                      <c:ptCount val="5"/>
                      <c:pt idx="0">
                        <c:v>0</c:v>
                      </c:pt>
                      <c:pt idx="1">
                        <c:v>0.37077769049489395</c:v>
                      </c:pt>
                      <c:pt idx="2">
                        <c:v>0.34621099554234769</c:v>
                      </c:pt>
                      <c:pt idx="3">
                        <c:v>0.33333333333333331</c:v>
                      </c:pt>
                      <c:pt idx="4">
                        <c:v>0.33333333333333331</c:v>
                      </c:pt>
                    </c:numCache>
                  </c:numRef>
                </c:val>
                <c:extLst>
                  <c:ext xmlns:c16="http://schemas.microsoft.com/office/drawing/2014/chart" uri="{C3380CC4-5D6E-409C-BE32-E72D297353CC}">
                    <c16:uniqueId val="{00000007-80A4-4A15-A9A0-864893BA25D4}"/>
                  </c:ext>
                </c:extLst>
              </c15:ser>
            </c15:filteredBarSeries>
          </c:ext>
        </c:extLst>
      </c:bar3DChart>
      <c:catAx>
        <c:axId val="208505032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lt1">
                    <a:lumMod val="8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85037360"/>
        <c:crosses val="autoZero"/>
        <c:auto val="1"/>
        <c:lblAlgn val="ctr"/>
        <c:lblOffset val="100"/>
        <c:noMultiLvlLbl val="0"/>
      </c:catAx>
      <c:valAx>
        <c:axId val="208503736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dk1">
                  <a:lumMod val="50000"/>
                  <a:lumOff val="50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lt1">
                    <a:lumMod val="8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8505032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lt1">
                  <a:lumMod val="8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solidFill>
      <a:schemeClr val="accent1"/>
    </a:solidFill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NZ"/>
              <a:t>P</a:t>
            </a:r>
            <a:r>
              <a:rPr lang="en-US" altLang="zh-CN"/>
              <a:t>ercentage </a:t>
            </a:r>
          </a:p>
          <a:p>
            <a:pPr>
              <a:defRPr/>
            </a:pPr>
            <a:r>
              <a:rPr lang="en-US" altLang="zh-CN"/>
              <a:t>of Severe</a:t>
            </a:r>
            <a:r>
              <a:rPr lang="en-US" altLang="zh-CN" baseline="0"/>
              <a:t> Anxiety</a:t>
            </a:r>
          </a:p>
          <a:p>
            <a:pPr>
              <a:defRPr/>
            </a:pPr>
            <a:r>
              <a:rPr lang="en-US" altLang="zh-CN" baseline="0"/>
              <a:t> in Gender Group</a:t>
            </a:r>
            <a:endParaRPr lang="en-NZ"/>
          </a:p>
        </c:rich>
      </c:tx>
      <c:layout>
        <c:manualLayout>
          <c:xMode val="edge"/>
          <c:yMode val="edge"/>
          <c:x val="0.34413632070825584"/>
          <c:y val="0.3287830601641477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0.26331036517728834"/>
          <c:y val="7.4663573085846882E-2"/>
          <c:w val="0.48170681995770653"/>
          <c:h val="0.8052662732703656"/>
        </c:manualLayout>
      </c:layout>
      <c:doughnutChart>
        <c:varyColors val="1"/>
        <c:ser>
          <c:idx val="0"/>
          <c:order val="0"/>
          <c:tx>
            <c:strRef>
              <c:f>Sheet1!$B$60</c:f>
              <c:strCache>
                <c:ptCount val="1"/>
                <c:pt idx="0">
                  <c:v>percentage of Severe Anxiety 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4CDB-4A2A-BB6B-7DD79DC7A085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4CDB-4A2A-BB6B-7DD79DC7A085}"/>
              </c:ext>
            </c:extLst>
          </c:dPt>
          <c:dLbls>
            <c:dLbl>
              <c:idx val="0"/>
              <c:layout>
                <c:manualLayout>
                  <c:x val="0.18875780707841777"/>
                  <c:y val="8.8167053364269138E-2"/>
                </c:manualLayout>
              </c:layout>
              <c:tx>
                <c:rich>
                  <a:bodyPr/>
                  <a:lstStyle/>
                  <a:p>
                    <a:r>
                      <a:rPr lang="en-GB"/>
                      <a:t>Female</a:t>
                    </a:r>
                    <a:r>
                      <a:rPr lang="en-GB" baseline="0"/>
                      <a:t> wirh Severe Anxiety</a:t>
                    </a:r>
                  </a:p>
                  <a:p>
                    <a:r>
                      <a:rPr lang="en-GB" baseline="0"/>
                      <a:t>43.53%</a:t>
                    </a:r>
                    <a:endParaRPr lang="en-GB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4CDB-4A2A-BB6B-7DD79DC7A085}"/>
                </c:ext>
              </c:extLst>
            </c:dLbl>
            <c:dLbl>
              <c:idx val="1"/>
              <c:layout>
                <c:manualLayout>
                  <c:x val="-0.14712005551700208"/>
                  <c:y val="-0.20417633410672853"/>
                </c:manualLayout>
              </c:layout>
              <c:tx>
                <c:rich>
                  <a:bodyPr/>
                  <a:lstStyle/>
                  <a:p>
                    <a:r>
                      <a:rPr lang="en-GB"/>
                      <a:t>Male</a:t>
                    </a:r>
                    <a:r>
                      <a:rPr lang="en-GB" baseline="0"/>
                      <a:t> with Severe Anxiety</a:t>
                    </a:r>
                  </a:p>
                  <a:p>
                    <a:r>
                      <a:rPr lang="en-GB" baseline="0"/>
                      <a:t>32.73%</a:t>
                    </a:r>
                    <a:endParaRPr lang="en-GB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4CDB-4A2A-BB6B-7DD79DC7A085}"/>
                </c:ext>
              </c:extLst>
            </c:dLbl>
            <c:spPr>
              <a:solidFill>
                <a:sysClr val="window" lastClr="FFFFFF"/>
              </a:solidFill>
              <a:ln w="12700">
                <a:solidFill>
                  <a:sysClr val="windowText" lastClr="000000"/>
                </a:solidFill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dk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</c:ext>
            </c:extLst>
          </c:dLbls>
          <c:cat>
            <c:strRef>
              <c:f>Sheet1!$A$61:$A$62</c:f>
              <c:strCache>
                <c:ptCount val="2"/>
                <c:pt idx="0">
                  <c:v>Female</c:v>
                </c:pt>
                <c:pt idx="1">
                  <c:v>Male</c:v>
                </c:pt>
              </c:strCache>
            </c:strRef>
          </c:cat>
          <c:val>
            <c:numRef>
              <c:f>Sheet1!$B$61:$B$62</c:f>
              <c:numCache>
                <c:formatCode>0.00%</c:formatCode>
                <c:ptCount val="2"/>
                <c:pt idx="0">
                  <c:v>0.43529411764705883</c:v>
                </c:pt>
                <c:pt idx="1">
                  <c:v>0.32725947521865889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4CDB-4A2A-BB6B-7DD79DC7A085}"/>
            </c:ext>
          </c:extLst>
        </c:ser>
        <c:ser>
          <c:idx val="1"/>
          <c:order val="1"/>
          <c:tx>
            <c:strRef>
              <c:f>Sheet1!$C$60</c:f>
              <c:strCache>
                <c:ptCount val="1"/>
                <c:pt idx="0">
                  <c:v>total percentage of Anxiety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6-4CDB-4A2A-BB6B-7DD79DC7A085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8-4CDB-4A2A-BB6B-7DD79DC7A085}"/>
              </c:ext>
            </c:extLst>
          </c:dPt>
          <c:dLbls>
            <c:dLbl>
              <c:idx val="0"/>
              <c:layout>
                <c:manualLayout>
                  <c:x val="0.13446119209592231"/>
                  <c:y val="-0.12452155367260603"/>
                </c:manualLayout>
              </c:layout>
              <c:tx>
                <c:rich>
                  <a:bodyPr rot="0" spcFirstLastPara="1" vertOverflow="ellipsis" vert="horz" wrap="square" lIns="38100" tIns="19050" rIns="38100" bIns="19050" anchor="ctr" anchorCtr="1">
                    <a:noAutofit/>
                  </a:bodyPr>
                  <a:lstStyle/>
                  <a:p>
                    <a:pPr>
                      <a:defRPr sz="900" b="0" i="0" u="none" strike="noStrike" kern="120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ea typeface="+mn-ea"/>
                        <a:cs typeface="+mn-cs"/>
                      </a:defRPr>
                    </a:pPr>
                    <a:r>
                      <a:rPr lang="en-US"/>
                      <a:t>Female</a:t>
                    </a:r>
                    <a:r>
                      <a:rPr lang="en-US" baseline="0"/>
                      <a:t> with Anxiety</a:t>
                    </a:r>
                  </a:p>
                  <a:p>
                    <a:pPr>
                      <a:defRPr/>
                    </a:pPr>
                    <a:r>
                      <a:rPr lang="en-US" baseline="0"/>
                      <a:t>30.25%</a:t>
                    </a:r>
                    <a:endParaRPr lang="en-US"/>
                  </a:p>
                </c:rich>
              </c:tx>
              <c:spPr>
                <a:solidFill>
                  <a:schemeClr val="bg1"/>
                </a:solidFill>
                <a:ln>
                  <a:solidFill>
                    <a:schemeClr val="tx1">
                      <a:lumMod val="35000"/>
                      <a:lumOff val="65000"/>
                    </a:schemeClr>
                  </a:solidFill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9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2317637447636923"/>
                      <c:h val="0.18237220587984596"/>
                    </c:manualLayout>
                  </c15:layout>
                  <c15:showDataLabelsRange val="0"/>
                </c:ext>
                <c:ext xmlns:c16="http://schemas.microsoft.com/office/drawing/2014/chart" uri="{C3380CC4-5D6E-409C-BE32-E72D297353CC}">
                  <c16:uniqueId val="{00000006-4CDB-4A2A-BB6B-7DD79DC7A085}"/>
                </c:ext>
              </c:extLst>
            </c:dLbl>
            <c:dLbl>
              <c:idx val="1"/>
              <c:layout>
                <c:manualLayout>
                  <c:x val="-9.9930603747397637E-2"/>
                  <c:y val="0.12993039443155444"/>
                </c:manualLayout>
              </c:layout>
              <c:tx>
                <c:rich>
                  <a:bodyPr/>
                  <a:lstStyle/>
                  <a:p>
                    <a:r>
                      <a:rPr lang="en-US"/>
                      <a:t>Male</a:t>
                    </a:r>
                    <a:r>
                      <a:rPr lang="en-US" baseline="0"/>
                      <a:t> with Anxiety</a:t>
                    </a:r>
                  </a:p>
                  <a:p>
                    <a:r>
                      <a:rPr lang="en-US"/>
                      <a:t>69.75%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8-4CDB-4A2A-BB6B-7DD79DC7A085}"/>
                </c:ext>
              </c:extLst>
            </c:dLbl>
            <c:spPr>
              <a:solidFill>
                <a:schemeClr val="bg1"/>
              </a:solidFill>
              <a:ln>
                <a:solidFill>
                  <a:schemeClr val="tx1">
                    <a:lumMod val="35000"/>
                    <a:lumOff val="65000"/>
                  </a:schemeClr>
                </a:solidFill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Sheet1!$A$61:$A$62</c:f>
              <c:strCache>
                <c:ptCount val="2"/>
                <c:pt idx="0">
                  <c:v>Female</c:v>
                </c:pt>
                <c:pt idx="1">
                  <c:v>Male</c:v>
                </c:pt>
              </c:strCache>
            </c:strRef>
          </c:cat>
          <c:val>
            <c:numRef>
              <c:f>Sheet1!$C$61:$C$62</c:f>
              <c:numCache>
                <c:formatCode>0.00%</c:formatCode>
                <c:ptCount val="2"/>
                <c:pt idx="0">
                  <c:v>0.302491103202847</c:v>
                </c:pt>
                <c:pt idx="1">
                  <c:v>0.697508896797153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4CDB-4A2A-BB6B-7DD79DC7A08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60"/>
      </c:doughnut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500" b="1" i="0" u="none" strike="noStrike" kern="1200" cap="all" spc="100" normalizeH="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Severe Anxiety in academic year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500" b="1" i="0" u="none" strike="noStrike" kern="1200" cap="all" spc="100" normalizeH="0" baseline="0">
              <a:solidFill>
                <a:schemeClr val="lt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6.1289873241398521E-2"/>
          <c:y val="0.17393870601589104"/>
          <c:w val="0.93871012675860144"/>
          <c:h val="0.67122257277431696"/>
        </c:manualLayout>
      </c:layout>
      <c:lineChart>
        <c:grouping val="stacked"/>
        <c:varyColors val="0"/>
        <c:ser>
          <c:idx val="0"/>
          <c:order val="0"/>
          <c:tx>
            <c:strRef>
              <c:f>Sheet1!$B$193</c:f>
              <c:strCache>
                <c:ptCount val="1"/>
                <c:pt idx="0">
                  <c:v>% of Severe Anxiety</c:v>
                </c:pt>
              </c:strCache>
            </c:strRef>
          </c:tx>
          <c:spPr>
            <a:ln w="25400" cap="rnd">
              <a:solidFill>
                <a:schemeClr val="lt1"/>
              </a:solidFill>
              <a:round/>
            </a:ln>
            <a:effectLst>
              <a:outerShdw dist="25400" dir="2700000" algn="tl" rotWithShape="0">
                <a:schemeClr val="accent1"/>
              </a:outerShdw>
            </a:effectLst>
          </c:spPr>
          <c:marker>
            <c:symbol val="none"/>
          </c:marker>
          <c:dLbls>
            <c:dLbl>
              <c:idx val="1"/>
              <c:spPr>
                <a:solidFill>
                  <a:schemeClr val="accent1"/>
                </a:solidFill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050" b="1" i="0" u="none" strike="noStrike" kern="1200" baseline="0">
                      <a:solidFill>
                        <a:srgbClr val="FF0000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0-216A-4971-87A8-0F8A40AED2C1}"/>
                </c:ext>
              </c:extLst>
            </c:dLbl>
            <c:dLbl>
              <c:idx val="2"/>
              <c:spPr>
                <a:solidFill>
                  <a:schemeClr val="accent1"/>
                </a:solidFill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050" b="1" i="0" u="none" strike="noStrike" kern="1200" baseline="0">
                      <a:solidFill>
                        <a:srgbClr val="FF0000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1-216A-4971-87A8-0F8A40AED2C1}"/>
                </c:ext>
              </c:extLst>
            </c:dLbl>
            <c:spPr>
              <a:solidFill>
                <a:schemeClr val="accent1"/>
              </a:solidFill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1" i="0" u="none" strike="noStrike" kern="1200" baseline="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accent1">
                          <a:lumMod val="60000"/>
                          <a:lumOff val="40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Sheet1!$A$194:$A$198</c:f>
              <c:strCache>
                <c:ptCount val="5"/>
                <c:pt idx="0">
                  <c:v>First Year or Equivalent</c:v>
                </c:pt>
                <c:pt idx="1">
                  <c:v>Second Year or Equivalent</c:v>
                </c:pt>
                <c:pt idx="2">
                  <c:v>Third Year or Equivalent</c:v>
                </c:pt>
                <c:pt idx="3">
                  <c:v>Fourth Year or Equivalent</c:v>
                </c:pt>
                <c:pt idx="4">
                  <c:v>Other</c:v>
                </c:pt>
              </c:strCache>
            </c:strRef>
          </c:cat>
          <c:val>
            <c:numRef>
              <c:f>Sheet1!$B$194:$B$198</c:f>
              <c:numCache>
                <c:formatCode>0.00%</c:formatCode>
                <c:ptCount val="5"/>
                <c:pt idx="0">
                  <c:v>0.30236486486486486</c:v>
                </c:pt>
                <c:pt idx="1">
                  <c:v>0.4027027027027027</c:v>
                </c:pt>
                <c:pt idx="2">
                  <c:v>0.41485507246376813</c:v>
                </c:pt>
                <c:pt idx="3">
                  <c:v>0.34948979591836737</c:v>
                </c:pt>
                <c:pt idx="4">
                  <c:v>0.28169014084507044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216A-4971-87A8-0F8A40AED2C1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dropLines>
          <c:spPr>
            <a:ln w="9525" cap="flat" cmpd="sng" algn="ctr">
              <a:gradFill>
                <a:gsLst>
                  <a:gs pos="0">
                    <a:schemeClr val="lt1"/>
                  </a:gs>
                  <a:gs pos="100000">
                    <a:schemeClr val="lt1">
                      <a:alpha val="0"/>
                    </a:schemeClr>
                  </a:gs>
                </a:gsLst>
                <a:lin ang="5400000" scaled="0"/>
              </a:gradFill>
              <a:round/>
            </a:ln>
            <a:effectLst/>
          </c:spPr>
        </c:dropLines>
        <c:smooth val="0"/>
        <c:axId val="1812329408"/>
        <c:axId val="1812327968"/>
      </c:lineChart>
      <c:catAx>
        <c:axId val="181232940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spc="3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812327968"/>
        <c:crosses val="autoZero"/>
        <c:auto val="1"/>
        <c:lblAlgn val="ctr"/>
        <c:lblOffset val="100"/>
        <c:noMultiLvlLbl val="0"/>
      </c:catAx>
      <c:valAx>
        <c:axId val="1812327968"/>
        <c:scaling>
          <c:orientation val="minMax"/>
        </c:scaling>
        <c:delete val="1"/>
        <c:axPos val="l"/>
        <c:numFmt formatCode="0.00%" sourceLinked="1"/>
        <c:majorTickMark val="none"/>
        <c:minorTickMark val="none"/>
        <c:tickLblPos val="nextTo"/>
        <c:crossAx val="181232940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zero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accent1"/>
    </a:solidFill>
    <a:ln w="9525" cap="flat" cmpd="sng" algn="ctr">
      <a:solidFill>
        <a:schemeClr val="lt1">
          <a:lumMod val="85000"/>
        </a:schemeClr>
      </a:solidFill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1" i="0" u="none" strike="noStrike" kern="1200" spc="100" baseline="0">
                <a:solidFill>
                  <a:schemeClr val="lt1">
                    <a:lumMod val="95000"/>
                  </a:schemeClr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+mn-lt"/>
                <a:ea typeface="+mn-ea"/>
                <a:cs typeface="+mn-cs"/>
              </a:defRPr>
            </a:pPr>
            <a:r>
              <a:rPr lang="en-US" dirty="0"/>
              <a:t>Severe Anxiety in CGPA 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1" i="0" u="none" strike="noStrike" kern="1200" spc="100" baseline="0">
              <a:solidFill>
                <a:schemeClr val="lt1">
                  <a:lumMod val="95000"/>
                </a:schemeClr>
              </a:soli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Sheet1!$G$224</c:f>
              <c:strCache>
                <c:ptCount val="1"/>
                <c:pt idx="0">
                  <c:v>% of Severe Anxiety </c:v>
                </c:pt>
              </c:strCache>
            </c:strRef>
          </c:tx>
          <c:spPr>
            <a:gradFill rotWithShape="1">
              <a:gsLst>
                <a:gs pos="0">
                  <a:schemeClr val="accent1">
                    <a:satMod val="103000"/>
                    <a:lumMod val="102000"/>
                    <a:tint val="94000"/>
                  </a:schemeClr>
                </a:gs>
                <a:gs pos="50000">
                  <a:schemeClr val="accent1">
                    <a:satMod val="110000"/>
                    <a:lumMod val="100000"/>
                    <a:shade val="100000"/>
                  </a:schemeClr>
                </a:gs>
                <a:gs pos="100000">
                  <a:schemeClr val="accent1">
                    <a:lumMod val="99000"/>
                    <a:satMod val="120000"/>
                    <a:shade val="78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</c:spPr>
          <c:invertIfNegative val="0"/>
          <c:dPt>
            <c:idx val="6"/>
            <c:invertIfNegative val="0"/>
            <c:bubble3D val="0"/>
            <c:spPr>
              <a:solidFill>
                <a:schemeClr val="accent4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1-50E5-4AB7-81B5-E505D02C2AB7}"/>
              </c:ext>
            </c:extLst>
          </c:dPt>
          <c:dLbls>
            <c:dLbl>
              <c:idx val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200" b="0" i="0" u="none" strike="noStrike" kern="1200" baseline="0">
                      <a:ln>
                        <a:solidFill>
                          <a:srgbClr val="FF0000"/>
                        </a:solidFill>
                      </a:ln>
                      <a:solidFill>
                        <a:srgbClr val="FF0000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2-50E5-4AB7-81B5-E505D02C2AB7}"/>
                </c:ext>
              </c:extLst>
            </c:dLbl>
            <c:dLbl>
              <c:idx val="1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200" b="0" i="0" u="none" strike="noStrike" kern="1200" baseline="0">
                      <a:ln>
                        <a:solidFill>
                          <a:srgbClr val="FF0000"/>
                        </a:solidFill>
                      </a:ln>
                      <a:solidFill>
                        <a:srgbClr val="FF0000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3-50E5-4AB7-81B5-E505D02C2AB7}"/>
                </c:ext>
              </c:extLst>
            </c:dLbl>
            <c:dLbl>
              <c:idx val="4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200" b="0" i="0" u="none" strike="noStrike" kern="1200" baseline="0">
                      <a:ln>
                        <a:solidFill>
                          <a:srgbClr val="FF0000"/>
                        </a:solidFill>
                      </a:ln>
                      <a:solidFill>
                        <a:srgbClr val="FF0000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4-50E5-4AB7-81B5-E505D02C2AB7}"/>
                </c:ext>
              </c:extLst>
            </c:dLbl>
            <c:dLbl>
              <c:idx val="5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200" b="0" i="0" u="none" strike="noStrike" kern="1200" baseline="0">
                      <a:ln>
                        <a:solidFill>
                          <a:srgbClr val="FF0000"/>
                        </a:solidFill>
                      </a:ln>
                      <a:solidFill>
                        <a:srgbClr val="FF0000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5-50E5-4AB7-81B5-E505D02C2AB7}"/>
                </c:ext>
              </c:extLst>
            </c:dLbl>
            <c:dLbl>
              <c:idx val="6"/>
              <c:spPr>
                <a:solidFill>
                  <a:schemeClr val="bg1">
                    <a:alpha val="46000"/>
                  </a:schemeClr>
                </a:solidFill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200" b="0" i="0" u="none" strike="noStrike" kern="1200" baseline="0">
                      <a:ln w="6350">
                        <a:solidFill>
                          <a:schemeClr val="tx1"/>
                        </a:solidFill>
                      </a:ln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1-50E5-4AB7-81B5-E505D02C2AB7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lt1">
                        <a:lumMod val="8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lt1">
                          <a:lumMod val="95000"/>
                          <a:alpha val="54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Sheet1!$F$225:$F$231</c:f>
              <c:strCache>
                <c:ptCount val="7"/>
                <c:pt idx="0">
                  <c:v>Below 2.50</c:v>
                </c:pt>
                <c:pt idx="1">
                  <c:v>2.50 - 2.99</c:v>
                </c:pt>
                <c:pt idx="2">
                  <c:v>3.00 - 3.39</c:v>
                </c:pt>
                <c:pt idx="3">
                  <c:v>3.40 - 3.79</c:v>
                </c:pt>
                <c:pt idx="4">
                  <c:v>3.80 - 4.00</c:v>
                </c:pt>
                <c:pt idx="5">
                  <c:v>Other</c:v>
                </c:pt>
                <c:pt idx="6">
                  <c:v>Average % of Severe Anxiety</c:v>
                </c:pt>
              </c:strCache>
            </c:strRef>
          </c:cat>
          <c:val>
            <c:numRef>
              <c:f>Sheet1!$G$225:$G$231</c:f>
              <c:numCache>
                <c:formatCode>0.00%</c:formatCode>
                <c:ptCount val="7"/>
                <c:pt idx="0">
                  <c:v>0.43209876543209874</c:v>
                </c:pt>
                <c:pt idx="1">
                  <c:v>0.39130434782608697</c:v>
                </c:pt>
                <c:pt idx="2">
                  <c:v>0.32517482517482516</c:v>
                </c:pt>
                <c:pt idx="3">
                  <c:v>0.35753176043557167</c:v>
                </c:pt>
                <c:pt idx="4">
                  <c:v>0.37130801687763715</c:v>
                </c:pt>
                <c:pt idx="5">
                  <c:v>0.38095238095238093</c:v>
                </c:pt>
                <c:pt idx="6">
                  <c:v>0.36115326251896812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50E5-4AB7-81B5-E505D02C2AB7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100"/>
        <c:overlap val="-24"/>
        <c:axId val="48393407"/>
        <c:axId val="48386207"/>
      </c:barChart>
      <c:catAx>
        <c:axId val="48393407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12700" cap="flat" cmpd="sng" algn="ctr">
            <a:solidFill>
              <a:schemeClr val="lt1">
                <a:lumMod val="95000"/>
                <a:alpha val="54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lt1">
                    <a:lumMod val="8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8386207"/>
        <c:crosses val="autoZero"/>
        <c:auto val="1"/>
        <c:lblAlgn val="ctr"/>
        <c:lblOffset val="100"/>
        <c:noMultiLvlLbl val="0"/>
      </c:catAx>
      <c:valAx>
        <c:axId val="48386207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lt1">
                  <a:lumMod val="95000"/>
                  <a:alpha val="10000"/>
                </a:schemeClr>
              </a:solidFill>
              <a:round/>
            </a:ln>
            <a:effectLst/>
          </c:spPr>
        </c:majorGridlines>
        <c:numFmt formatCode="0.0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lt1">
                    <a:lumMod val="8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8393407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zero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gradFill flip="none" rotWithShape="1">
      <a:gsLst>
        <a:gs pos="0">
          <a:schemeClr val="dk1">
            <a:lumMod val="65000"/>
            <a:lumOff val="35000"/>
          </a:schemeClr>
        </a:gs>
        <a:gs pos="100000">
          <a:schemeClr val="dk1">
            <a:lumMod val="85000"/>
            <a:lumOff val="15000"/>
          </a:schemeClr>
        </a:gs>
      </a:gsLst>
      <a:path path="circle">
        <a:fillToRect l="50000" t="50000" r="50000" b="50000"/>
      </a:path>
      <a:tileRect/>
    </a:gradFill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NZ"/>
              <a:t>Waiver Scholarship: No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doughnutChart>
        <c:varyColors val="1"/>
        <c:ser>
          <c:idx val="0"/>
          <c:order val="0"/>
          <c:spPr>
            <a:solidFill>
              <a:schemeClr val="bg1">
                <a:lumMod val="75000"/>
              </a:schemeClr>
            </a:solidFill>
          </c:spPr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E208-42E0-A1C7-6290E6E07092}"/>
              </c:ext>
            </c:extLst>
          </c:dPt>
          <c:dPt>
            <c:idx val="1"/>
            <c:bubble3D val="0"/>
            <c:spPr>
              <a:solidFill>
                <a:schemeClr val="bg1">
                  <a:lumMod val="75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E208-42E0-A1C7-6290E6E07092}"/>
              </c:ext>
            </c:extLst>
          </c:dPt>
          <c:dPt>
            <c:idx val="2"/>
            <c:bubble3D val="0"/>
            <c:spPr>
              <a:solidFill>
                <a:schemeClr val="bg1">
                  <a:lumMod val="75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E208-42E0-A1C7-6290E6E07092}"/>
              </c:ext>
            </c:extLst>
          </c:dPt>
          <c:dPt>
            <c:idx val="3"/>
            <c:bubble3D val="0"/>
            <c:spPr>
              <a:solidFill>
                <a:schemeClr val="bg1">
                  <a:lumMod val="75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E208-42E0-A1C7-6290E6E07092}"/>
              </c:ext>
            </c:extLst>
          </c:dPt>
          <c:dPt>
            <c:idx val="4"/>
            <c:bubble3D val="0"/>
            <c:spPr>
              <a:solidFill>
                <a:schemeClr val="bg1">
                  <a:lumMod val="75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9-E208-42E0-A1C7-6290E6E07092}"/>
              </c:ext>
            </c:extLst>
          </c:dPt>
          <c:dPt>
            <c:idx val="5"/>
            <c:bubble3D val="0"/>
            <c:spPr>
              <a:solidFill>
                <a:schemeClr val="bg1">
                  <a:lumMod val="75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B-E208-42E0-A1C7-6290E6E07092}"/>
              </c:ext>
            </c:extLst>
          </c:dPt>
          <c:dPt>
            <c:idx val="6"/>
            <c:bubble3D val="0"/>
            <c:spPr>
              <a:solidFill>
                <a:schemeClr val="bg1">
                  <a:lumMod val="75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D-E208-42E0-A1C7-6290E6E07092}"/>
              </c:ext>
            </c:extLst>
          </c:dPt>
          <c:dPt>
            <c:idx val="7"/>
            <c:bubble3D val="0"/>
            <c:spPr>
              <a:solidFill>
                <a:schemeClr val="bg1">
                  <a:lumMod val="75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F-E208-42E0-A1C7-6290E6E07092}"/>
              </c:ext>
            </c:extLst>
          </c:dPt>
          <c:dPt>
            <c:idx val="8"/>
            <c:bubble3D val="0"/>
            <c:spPr>
              <a:solidFill>
                <a:schemeClr val="bg1">
                  <a:lumMod val="75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11-E208-42E0-A1C7-6290E6E07092}"/>
              </c:ext>
            </c:extLst>
          </c:dPt>
          <c:dPt>
            <c:idx val="9"/>
            <c:bubble3D val="0"/>
            <c:spPr>
              <a:solidFill>
                <a:schemeClr val="bg1">
                  <a:lumMod val="75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13-E208-42E0-A1C7-6290E6E07092}"/>
              </c:ext>
            </c:extLst>
          </c:dPt>
          <c:dPt>
            <c:idx val="10"/>
            <c:bubble3D val="0"/>
            <c:spPr>
              <a:solidFill>
                <a:schemeClr val="bg1">
                  <a:lumMod val="75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15-E208-42E0-A1C7-6290E6E07092}"/>
              </c:ext>
            </c:extLst>
          </c:dPt>
          <c:dPt>
            <c:idx val="11"/>
            <c:bubble3D val="0"/>
            <c:spPr>
              <a:solidFill>
                <a:schemeClr val="bg1">
                  <a:lumMod val="75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17-E208-42E0-A1C7-6290E6E07092}"/>
              </c:ext>
            </c:extLst>
          </c:dPt>
          <c:dPt>
            <c:idx val="12"/>
            <c:bubble3D val="0"/>
            <c:spPr>
              <a:solidFill>
                <a:schemeClr val="bg1">
                  <a:lumMod val="75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19-E208-42E0-A1C7-6290E6E07092}"/>
              </c:ext>
            </c:extLst>
          </c:dPt>
          <c:dPt>
            <c:idx val="13"/>
            <c:bubble3D val="0"/>
            <c:spPr>
              <a:solidFill>
                <a:schemeClr val="bg1">
                  <a:lumMod val="75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1B-E208-42E0-A1C7-6290E6E07092}"/>
              </c:ext>
            </c:extLst>
          </c:dPt>
          <c:dPt>
            <c:idx val="14"/>
            <c:bubble3D val="0"/>
            <c:spPr>
              <a:solidFill>
                <a:schemeClr val="bg1">
                  <a:lumMod val="75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1D-E208-42E0-A1C7-6290E6E07092}"/>
              </c:ext>
            </c:extLst>
          </c:dPt>
          <c:dPt>
            <c:idx val="15"/>
            <c:bubble3D val="0"/>
            <c:spPr>
              <a:solidFill>
                <a:schemeClr val="bg1">
                  <a:lumMod val="75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1F-E208-42E0-A1C7-6290E6E07092}"/>
              </c:ext>
            </c:extLst>
          </c:dPt>
          <c:dPt>
            <c:idx val="16"/>
            <c:bubble3D val="0"/>
            <c:spPr>
              <a:solidFill>
                <a:schemeClr val="bg1">
                  <a:lumMod val="75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21-E208-42E0-A1C7-6290E6E07092}"/>
              </c:ext>
            </c:extLst>
          </c:dPt>
          <c:dPt>
            <c:idx val="17"/>
            <c:bubble3D val="0"/>
            <c:spPr>
              <a:solidFill>
                <a:schemeClr val="bg1">
                  <a:lumMod val="75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23-E208-42E0-A1C7-6290E6E07092}"/>
              </c:ext>
            </c:extLst>
          </c:dPt>
          <c:dPt>
            <c:idx val="18"/>
            <c:bubble3D val="0"/>
            <c:spPr>
              <a:solidFill>
                <a:schemeClr val="bg1">
                  <a:lumMod val="75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25-E208-42E0-A1C7-6290E6E07092}"/>
              </c:ext>
            </c:extLst>
          </c:dPt>
          <c:dPt>
            <c:idx val="19"/>
            <c:bubble3D val="0"/>
            <c:spPr>
              <a:solidFill>
                <a:schemeClr val="bg1">
                  <a:lumMod val="75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27-E208-42E0-A1C7-6290E6E07092}"/>
              </c:ext>
            </c:extLst>
          </c:dPt>
          <c:dPt>
            <c:idx val="20"/>
            <c:bubble3D val="0"/>
            <c:spPr>
              <a:solidFill>
                <a:schemeClr val="bg1">
                  <a:lumMod val="75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29-E208-42E0-A1C7-6290E6E07092}"/>
              </c:ext>
            </c:extLst>
          </c:dPt>
          <c:val>
            <c:numRef>
              <c:f>Sheet1!$E$250:$E$270</c:f>
              <c:numCache>
                <c:formatCode>0.00%</c:formatCode>
                <c:ptCount val="21"/>
                <c:pt idx="0">
                  <c:v>0.35709739019732656</c:v>
                </c:pt>
                <c:pt idx="1">
                  <c:v>3.2145130490133671E-2</c:v>
                </c:pt>
                <c:pt idx="2">
                  <c:v>3.2145130490133671E-2</c:v>
                </c:pt>
                <c:pt idx="3">
                  <c:v>3.2145130490133671E-2</c:v>
                </c:pt>
                <c:pt idx="4">
                  <c:v>3.2145130490133671E-2</c:v>
                </c:pt>
                <c:pt idx="5">
                  <c:v>3.2145130490133671E-2</c:v>
                </c:pt>
                <c:pt idx="6">
                  <c:v>3.2145130490133671E-2</c:v>
                </c:pt>
                <c:pt idx="7">
                  <c:v>3.2145130490133671E-2</c:v>
                </c:pt>
                <c:pt idx="8">
                  <c:v>3.2145130490133671E-2</c:v>
                </c:pt>
                <c:pt idx="9">
                  <c:v>3.2145130490133671E-2</c:v>
                </c:pt>
                <c:pt idx="10">
                  <c:v>3.2145130490133671E-2</c:v>
                </c:pt>
                <c:pt idx="11">
                  <c:v>3.2145130490133671E-2</c:v>
                </c:pt>
                <c:pt idx="12">
                  <c:v>3.2145130490133671E-2</c:v>
                </c:pt>
                <c:pt idx="13">
                  <c:v>3.2145130490133671E-2</c:v>
                </c:pt>
                <c:pt idx="14">
                  <c:v>3.2145130490133671E-2</c:v>
                </c:pt>
                <c:pt idx="15">
                  <c:v>3.2145130490133671E-2</c:v>
                </c:pt>
                <c:pt idx="16">
                  <c:v>3.2145130490133671E-2</c:v>
                </c:pt>
                <c:pt idx="17">
                  <c:v>3.2145130490133671E-2</c:v>
                </c:pt>
                <c:pt idx="18">
                  <c:v>3.2145130490133671E-2</c:v>
                </c:pt>
                <c:pt idx="19">
                  <c:v>3.2145130490133671E-2</c:v>
                </c:pt>
                <c:pt idx="20">
                  <c:v>3.2145130490133671E-2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2A-E208-42E0-A1C7-6290E6E0709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75"/>
      </c:doughnut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  <c:userShapes r:id="rId4"/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NZ"/>
              <a:t>Waiver</a:t>
            </a:r>
            <a:r>
              <a:rPr lang="en-NZ" baseline="0"/>
              <a:t> Scholarship: Yes</a:t>
            </a:r>
            <a:endParaRPr lang="en-NZ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NZ"/>
        </a:p>
      </c:txPr>
    </c:title>
    <c:autoTitleDeleted val="0"/>
    <c:plotArea>
      <c:layout/>
      <c:doughnutChart>
        <c:varyColors val="1"/>
        <c:ser>
          <c:idx val="0"/>
          <c:order val="0"/>
          <c:spPr>
            <a:solidFill>
              <a:schemeClr val="bg1">
                <a:lumMod val="75000"/>
              </a:schemeClr>
            </a:solidFill>
            <a:ln>
              <a:solidFill>
                <a:schemeClr val="bg1"/>
              </a:solidFill>
            </a:ln>
          </c:spPr>
          <c:dPt>
            <c:idx val="0"/>
            <c:bubble3D val="0"/>
            <c:spPr>
              <a:solidFill>
                <a:schemeClr val="accent2">
                  <a:lumMod val="75000"/>
                </a:schemeClr>
              </a:solidFill>
              <a:ln w="19050">
                <a:solidFill>
                  <a:schemeClr val="bg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7D07-4B89-8C54-C1E68A2B222B}"/>
              </c:ext>
            </c:extLst>
          </c:dPt>
          <c:dPt>
            <c:idx val="1"/>
            <c:bubble3D val="0"/>
            <c:spPr>
              <a:solidFill>
                <a:schemeClr val="bg1">
                  <a:lumMod val="75000"/>
                </a:schemeClr>
              </a:solidFill>
              <a:ln w="19050">
                <a:solidFill>
                  <a:schemeClr val="bg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7D07-4B89-8C54-C1E68A2B222B}"/>
              </c:ext>
            </c:extLst>
          </c:dPt>
          <c:dPt>
            <c:idx val="2"/>
            <c:bubble3D val="0"/>
            <c:spPr>
              <a:solidFill>
                <a:schemeClr val="bg1">
                  <a:lumMod val="75000"/>
                </a:schemeClr>
              </a:solidFill>
              <a:ln w="19050">
                <a:solidFill>
                  <a:schemeClr val="bg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7D07-4B89-8C54-C1E68A2B222B}"/>
              </c:ext>
            </c:extLst>
          </c:dPt>
          <c:dPt>
            <c:idx val="3"/>
            <c:bubble3D val="0"/>
            <c:spPr>
              <a:solidFill>
                <a:schemeClr val="bg1">
                  <a:lumMod val="75000"/>
                </a:schemeClr>
              </a:solidFill>
              <a:ln w="19050">
                <a:solidFill>
                  <a:schemeClr val="bg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7D07-4B89-8C54-C1E68A2B222B}"/>
              </c:ext>
            </c:extLst>
          </c:dPt>
          <c:dPt>
            <c:idx val="4"/>
            <c:bubble3D val="0"/>
            <c:spPr>
              <a:solidFill>
                <a:schemeClr val="bg1">
                  <a:lumMod val="75000"/>
                </a:schemeClr>
              </a:solidFill>
              <a:ln w="19050">
                <a:solidFill>
                  <a:schemeClr val="bg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9-7D07-4B89-8C54-C1E68A2B222B}"/>
              </c:ext>
            </c:extLst>
          </c:dPt>
          <c:dPt>
            <c:idx val="5"/>
            <c:bubble3D val="0"/>
            <c:spPr>
              <a:solidFill>
                <a:schemeClr val="bg1">
                  <a:lumMod val="75000"/>
                </a:schemeClr>
              </a:solidFill>
              <a:ln w="19050">
                <a:solidFill>
                  <a:schemeClr val="bg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B-7D07-4B89-8C54-C1E68A2B222B}"/>
              </c:ext>
            </c:extLst>
          </c:dPt>
          <c:dPt>
            <c:idx val="6"/>
            <c:bubble3D val="0"/>
            <c:spPr>
              <a:solidFill>
                <a:schemeClr val="bg1">
                  <a:lumMod val="75000"/>
                </a:schemeClr>
              </a:solidFill>
              <a:ln w="19050">
                <a:solidFill>
                  <a:schemeClr val="bg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D-7D07-4B89-8C54-C1E68A2B222B}"/>
              </c:ext>
            </c:extLst>
          </c:dPt>
          <c:dPt>
            <c:idx val="7"/>
            <c:bubble3D val="0"/>
            <c:spPr>
              <a:solidFill>
                <a:schemeClr val="bg1">
                  <a:lumMod val="75000"/>
                </a:schemeClr>
              </a:solidFill>
              <a:ln w="19050">
                <a:solidFill>
                  <a:schemeClr val="bg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F-7D07-4B89-8C54-C1E68A2B222B}"/>
              </c:ext>
            </c:extLst>
          </c:dPt>
          <c:dPt>
            <c:idx val="8"/>
            <c:bubble3D val="0"/>
            <c:spPr>
              <a:solidFill>
                <a:schemeClr val="bg1">
                  <a:lumMod val="75000"/>
                </a:schemeClr>
              </a:solidFill>
              <a:ln w="19050">
                <a:solidFill>
                  <a:schemeClr val="bg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11-7D07-4B89-8C54-C1E68A2B222B}"/>
              </c:ext>
            </c:extLst>
          </c:dPt>
          <c:dPt>
            <c:idx val="9"/>
            <c:bubble3D val="0"/>
            <c:spPr>
              <a:solidFill>
                <a:schemeClr val="bg1">
                  <a:lumMod val="75000"/>
                </a:schemeClr>
              </a:solidFill>
              <a:ln w="19050">
                <a:solidFill>
                  <a:schemeClr val="bg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13-7D07-4B89-8C54-C1E68A2B222B}"/>
              </c:ext>
            </c:extLst>
          </c:dPt>
          <c:dPt>
            <c:idx val="10"/>
            <c:bubble3D val="0"/>
            <c:spPr>
              <a:solidFill>
                <a:schemeClr val="bg1">
                  <a:lumMod val="75000"/>
                </a:schemeClr>
              </a:solidFill>
              <a:ln w="19050">
                <a:solidFill>
                  <a:schemeClr val="bg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15-7D07-4B89-8C54-C1E68A2B222B}"/>
              </c:ext>
            </c:extLst>
          </c:dPt>
          <c:dPt>
            <c:idx val="11"/>
            <c:bubble3D val="0"/>
            <c:spPr>
              <a:solidFill>
                <a:schemeClr val="bg1">
                  <a:lumMod val="75000"/>
                </a:schemeClr>
              </a:solidFill>
              <a:ln w="19050">
                <a:solidFill>
                  <a:schemeClr val="bg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17-7D07-4B89-8C54-C1E68A2B222B}"/>
              </c:ext>
            </c:extLst>
          </c:dPt>
          <c:dPt>
            <c:idx val="12"/>
            <c:bubble3D val="0"/>
            <c:spPr>
              <a:solidFill>
                <a:schemeClr val="bg1">
                  <a:lumMod val="75000"/>
                </a:schemeClr>
              </a:solidFill>
              <a:ln w="19050">
                <a:solidFill>
                  <a:schemeClr val="bg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19-7D07-4B89-8C54-C1E68A2B222B}"/>
              </c:ext>
            </c:extLst>
          </c:dPt>
          <c:dPt>
            <c:idx val="13"/>
            <c:bubble3D val="0"/>
            <c:spPr>
              <a:solidFill>
                <a:schemeClr val="bg1">
                  <a:lumMod val="75000"/>
                </a:schemeClr>
              </a:solidFill>
              <a:ln w="19050">
                <a:solidFill>
                  <a:schemeClr val="bg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1B-7D07-4B89-8C54-C1E68A2B222B}"/>
              </c:ext>
            </c:extLst>
          </c:dPt>
          <c:dPt>
            <c:idx val="14"/>
            <c:bubble3D val="0"/>
            <c:spPr>
              <a:solidFill>
                <a:schemeClr val="bg1">
                  <a:lumMod val="75000"/>
                </a:schemeClr>
              </a:solidFill>
              <a:ln w="19050">
                <a:solidFill>
                  <a:schemeClr val="bg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1D-7D07-4B89-8C54-C1E68A2B222B}"/>
              </c:ext>
            </c:extLst>
          </c:dPt>
          <c:dPt>
            <c:idx val="15"/>
            <c:bubble3D val="0"/>
            <c:spPr>
              <a:solidFill>
                <a:schemeClr val="bg1">
                  <a:lumMod val="75000"/>
                </a:schemeClr>
              </a:solidFill>
              <a:ln w="19050">
                <a:solidFill>
                  <a:schemeClr val="bg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1F-7D07-4B89-8C54-C1E68A2B222B}"/>
              </c:ext>
            </c:extLst>
          </c:dPt>
          <c:dPt>
            <c:idx val="16"/>
            <c:bubble3D val="0"/>
            <c:spPr>
              <a:solidFill>
                <a:schemeClr val="bg1">
                  <a:lumMod val="75000"/>
                </a:schemeClr>
              </a:solidFill>
              <a:ln w="19050">
                <a:solidFill>
                  <a:schemeClr val="bg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21-7D07-4B89-8C54-C1E68A2B222B}"/>
              </c:ext>
            </c:extLst>
          </c:dPt>
          <c:dPt>
            <c:idx val="17"/>
            <c:bubble3D val="0"/>
            <c:spPr>
              <a:solidFill>
                <a:schemeClr val="bg1">
                  <a:lumMod val="75000"/>
                </a:schemeClr>
              </a:solidFill>
              <a:ln w="19050">
                <a:solidFill>
                  <a:schemeClr val="bg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23-7D07-4B89-8C54-C1E68A2B222B}"/>
              </c:ext>
            </c:extLst>
          </c:dPt>
          <c:dPt>
            <c:idx val="18"/>
            <c:bubble3D val="0"/>
            <c:spPr>
              <a:solidFill>
                <a:schemeClr val="bg1">
                  <a:lumMod val="75000"/>
                </a:schemeClr>
              </a:solidFill>
              <a:ln w="19050">
                <a:solidFill>
                  <a:schemeClr val="bg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25-7D07-4B89-8C54-C1E68A2B222B}"/>
              </c:ext>
            </c:extLst>
          </c:dPt>
          <c:dPt>
            <c:idx val="19"/>
            <c:bubble3D val="0"/>
            <c:spPr>
              <a:solidFill>
                <a:schemeClr val="bg1">
                  <a:lumMod val="75000"/>
                </a:schemeClr>
              </a:solidFill>
              <a:ln w="19050">
                <a:solidFill>
                  <a:schemeClr val="bg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27-7D07-4B89-8C54-C1E68A2B222B}"/>
              </c:ext>
            </c:extLst>
          </c:dPt>
          <c:dPt>
            <c:idx val="20"/>
            <c:bubble3D val="0"/>
            <c:spPr>
              <a:solidFill>
                <a:schemeClr val="bg1">
                  <a:lumMod val="75000"/>
                </a:schemeClr>
              </a:solidFill>
              <a:ln w="19050">
                <a:solidFill>
                  <a:schemeClr val="bg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29-7D07-4B89-8C54-C1E68A2B222B}"/>
              </c:ext>
            </c:extLst>
          </c:dPt>
          <c:val>
            <c:numRef>
              <c:f>Sheet1!$D$250:$D$270</c:f>
              <c:numCache>
                <c:formatCode>0.00%</c:formatCode>
                <c:ptCount val="21"/>
                <c:pt idx="0">
                  <c:v>0.37684729064039407</c:v>
                </c:pt>
                <c:pt idx="1">
                  <c:v>3.1157635467980293E-2</c:v>
                </c:pt>
                <c:pt idx="2">
                  <c:v>3.1157635467980293E-2</c:v>
                </c:pt>
                <c:pt idx="3">
                  <c:v>3.1157635467980293E-2</c:v>
                </c:pt>
                <c:pt idx="4">
                  <c:v>3.1157635467980293E-2</c:v>
                </c:pt>
                <c:pt idx="5">
                  <c:v>3.1157635467980293E-2</c:v>
                </c:pt>
                <c:pt idx="6">
                  <c:v>3.1157635467980293E-2</c:v>
                </c:pt>
                <c:pt idx="7">
                  <c:v>3.1157635467980293E-2</c:v>
                </c:pt>
                <c:pt idx="8">
                  <c:v>3.1157635467980293E-2</c:v>
                </c:pt>
                <c:pt idx="9">
                  <c:v>3.1157635467980293E-2</c:v>
                </c:pt>
                <c:pt idx="10">
                  <c:v>3.1157635467980293E-2</c:v>
                </c:pt>
                <c:pt idx="11">
                  <c:v>3.1157635467980293E-2</c:v>
                </c:pt>
                <c:pt idx="12">
                  <c:v>3.1157635467980293E-2</c:v>
                </c:pt>
                <c:pt idx="13">
                  <c:v>3.1157635467980293E-2</c:v>
                </c:pt>
                <c:pt idx="14">
                  <c:v>3.1157635467980293E-2</c:v>
                </c:pt>
                <c:pt idx="15">
                  <c:v>3.1157635467980293E-2</c:v>
                </c:pt>
                <c:pt idx="16">
                  <c:v>3.1157635467980293E-2</c:v>
                </c:pt>
                <c:pt idx="17">
                  <c:v>3.1157635467980293E-2</c:v>
                </c:pt>
                <c:pt idx="18">
                  <c:v>3.1157635467980293E-2</c:v>
                </c:pt>
                <c:pt idx="19">
                  <c:v>3.1157635467980293E-2</c:v>
                </c:pt>
                <c:pt idx="20">
                  <c:v>3.1157635467980293E-2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2A-7D07-4B89-8C54-C1E68A2B222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75"/>
      </c:doughnut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  <c:userShapes r:id="rId4"/>
</c:chartSpace>
</file>

<file path=ppt/charts/chartEx1.xml><?xml version="1.0" encoding="utf-8"?>
<cx:chartSpace xmlns:a="http://schemas.openxmlformats.org/drawingml/2006/main" xmlns:r="http://schemas.openxmlformats.org/officeDocument/2006/relationships" xmlns:cx="http://schemas.microsoft.com/office/drawing/2014/chartex">
  <cx:chartData>
    <cx:externalData r:id="rId1" cx:autoUpdate="0"/>
    <cx:data id="0">
      <cx:strDim type="cat">
        <cx:f>Sheet1!$A$115:$A$117</cx:f>
        <cx:lvl ptCount="3">
          <cx:pt idx="0">Engineering &amp; Technology University</cx:pt>
          <cx:pt idx="1">Comprehensive University</cx:pt>
          <cx:pt idx="2">Private University</cx:pt>
        </cx:lvl>
      </cx:strDim>
      <cx:numDim type="size">
        <cx:f>Sheet1!$C$115:$C$117</cx:f>
        <cx:lvl ptCount="3" formatCode="0.00%">
          <cx:pt idx="0">0.41273100616016428</cx:pt>
          <cx:pt idx="1">0.35408560311284049</cx:pt>
          <cx:pt idx="2">0.34225466342254662</cx:pt>
        </cx:lvl>
      </cx:numDim>
    </cx:data>
  </cx:chartData>
  <cx:chart>
    <cx:title pos="t" align="ctr" overlay="0">
      <cx:tx>
        <cx:rich>
          <a:bodyPr spcFirstLastPara="1" vertOverflow="ellipsis" horzOverflow="overflow" wrap="square" lIns="0" tIns="0" rIns="0" bIns="0" anchor="ctr" anchorCtr="1"/>
          <a:lstStyle/>
          <a:p>
            <a:pPr algn="ctr" rtl="0">
              <a:defRPr/>
            </a:pPr>
            <a:r>
              <a:rPr lang="en-GB" sz="1400" b="0" i="0" u="none" strike="noStrike" baseline="0" dirty="0">
                <a:solidFill>
                  <a:sysClr val="windowText" lastClr="000000">
                    <a:lumMod val="65000"/>
                    <a:lumOff val="35000"/>
                  </a:sysClr>
                </a:solidFill>
                <a:latin typeface="Aptos Narrow" panose="02110004020202020204"/>
              </a:rPr>
              <a:t>Severe Anxiety in University</a:t>
            </a:r>
          </a:p>
        </cx:rich>
      </cx:tx>
    </cx:title>
    <cx:plotArea>
      <cx:plotAreaRegion>
        <cx:series layoutId="treemap" uniqueId="{25A375A4-6905-491A-8E0F-3C4D2AC669C6}">
          <cx:tx>
            <cx:txData>
              <cx:f>Sheet1!$C$114</cx:f>
              <cx:v>% of Severe Anxiety</cx:v>
            </cx:txData>
          </cx:tx>
          <cx:dataLabels>
            <cx:txPr>
              <a:bodyPr spcFirstLastPara="1" vertOverflow="ellipsis" horzOverflow="overflow" wrap="square" lIns="0" tIns="0" rIns="0" bIns="0" anchor="ctr" anchorCtr="1"/>
              <a:lstStyle/>
              <a:p>
                <a:pPr algn="ctr" rtl="0">
                  <a:defRPr>
                    <a:ln>
                      <a:noFill/>
                    </a:ln>
                    <a:solidFill>
                      <a:sysClr val="window" lastClr="FFFFFF"/>
                    </a:solidFill>
                  </a:defRPr>
                </a:pPr>
                <a:endParaRPr lang="en-GB" sz="900" b="0" i="0" u="none" strike="noStrike" baseline="0">
                  <a:ln>
                    <a:noFill/>
                  </a:ln>
                  <a:solidFill>
                    <a:sysClr val="window" lastClr="FFFFFF"/>
                  </a:solidFill>
                  <a:latin typeface="Aptos Narrow" panose="02110004020202020204"/>
                </a:endParaRPr>
              </a:p>
            </cx:txPr>
            <cx:visibility seriesName="0" categoryName="1" value="1"/>
            <cx:separator>, </cx:separator>
          </cx:dataLabels>
          <cx:dataId val="0"/>
          <cx:layoutPr/>
        </cx:series>
      </cx:plotAreaRegion>
    </cx:plotArea>
    <cx:legend pos="t" align="ctr" overlay="0"/>
  </cx:chart>
</cx:chartSpace>
</file>

<file path=ppt/charts/chartEx2.xml><?xml version="1.0" encoding="utf-8"?>
<cx:chartSpace xmlns:a="http://schemas.openxmlformats.org/drawingml/2006/main" xmlns:r="http://schemas.openxmlformats.org/officeDocument/2006/relationships" xmlns:cx="http://schemas.microsoft.com/office/drawing/2014/chartex">
  <cx:chartData>
    <cx:externalData r:id="rId1" cx:autoUpdate="0"/>
    <cx:data id="0">
      <cx:strDim type="cat">
        <cx:f>Sheet1!$F$155:$F$162</cx:f>
        <cx:lvl ptCount="8">
          <cx:pt idx="0">Business and Entrepreneurship Studies</cx:pt>
          <cx:pt idx="1">Engineering &amp; Technology</cx:pt>
          <cx:pt idx="2">Biological Sciences</cx:pt>
          <cx:pt idx="3">Environmental and Life Sciences</cx:pt>
          <cx:pt idx="4">Law and Human Rights</cx:pt>
          <cx:pt idx="5">Liberal Arts and Social Sciences</cx:pt>
          <cx:pt idx="6">Pharmacy and Public Health</cx:pt>
          <cx:pt idx="7">Other</cx:pt>
        </cx:lvl>
      </cx:strDim>
      <cx:numDim type="val">
        <cx:f>Sheet1!$I$155:$I$162</cx:f>
        <cx:lvl ptCount="8" formatCode="0.00%">
          <cx:pt idx="0">0.36434108527131781</cx:pt>
          <cx:pt idx="1">0.36346863468634688</cx:pt>
          <cx:pt idx="2">0.36842105263157893</cx:pt>
          <cx:pt idx="3">0.27659574468085107</cx:pt>
          <cx:pt idx="4">0</cx:pt>
          <cx:pt idx="5">0</cx:pt>
          <cx:pt idx="6">0</cx:pt>
          <cx:pt idx="7">0.36363636363636365</cx:pt>
        </cx:lvl>
      </cx:numDim>
    </cx:data>
  </cx:chartData>
  <cx:chart>
    <cx:title pos="t" align="ctr" overlay="0">
      <cx:tx>
        <cx:rich>
          <a:bodyPr rot="0" spcFirstLastPara="1" vertOverflow="ellipsis" vert="horz" wrap="square" lIns="38100" tIns="19050" rIns="38100" bIns="19050" anchor="ctr" anchorCtr="1" compatLnSpc="0"/>
          <a:lstStyle/>
          <a:p>
            <a:pPr algn="ctr" rtl="0">
              <a:defRPr sz="1400" b="0" i="0" u="none" strike="noStrike" kern="1200" spc="0" baseline="0">
                <a:solidFill>
                  <a:sysClr val="windowText" lastClr="000000">
                    <a:lumMod val="65000"/>
                    <a:lumOff val="35000"/>
                  </a:sysClr>
                </a:solidFill>
                <a:latin typeface="+mn-lt"/>
                <a:ea typeface="+mn-ea"/>
                <a:cs typeface="+mn-cs"/>
              </a:defRPr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>
                    <a:lumMod val="65000"/>
                    <a:lumOff val="35000"/>
                  </a:sysClr>
                </a:solidFill>
                <a:effectLst/>
                <a:uLnTx/>
                <a:uFillTx/>
                <a:latin typeface="Aptos Narrow" panose="02110004020202020204"/>
              </a:rPr>
              <a:t>Severe Anxiety in Department</a:t>
            </a:r>
          </a:p>
        </cx:rich>
      </cx:tx>
    </cx:title>
    <cx:plotArea>
      <cx:plotAreaRegion>
        <cx:series layoutId="funnel" uniqueId="{57533475-7205-40A0-BE30-E51032DB8252}">
          <cx:tx>
            <cx:txData>
              <cx:f>Sheet1!$I$154</cx:f>
              <cx:v>% of Severe Anxiety </cx:v>
            </cx:txData>
          </cx:tx>
          <cx:dataLabels>
            <cx:visibility seriesName="0" categoryName="0" value="1"/>
          </cx:dataLabels>
          <cx:dataId val="0"/>
        </cx:series>
      </cx:plotAreaRegion>
      <cx:axis id="0">
        <cx:catScaling gapWidth="0.0599999987"/>
        <cx:tickLabels/>
      </cx:axis>
    </cx:plotArea>
  </cx:chart>
</cx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withinLinearReversed" id="21">
  <a:schemeClr val="accent1"/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9">
  <cs:axisTitle>
    <cs:lnRef idx="0"/>
    <cs:fillRef idx="0"/>
    <cs:effectRef idx="0"/>
    <cs:fontRef idx="minor">
      <a:schemeClr val="tx1">
        <a:lumMod val="65000"/>
        <a:lumOff val="35000"/>
      </a:schemeClr>
    </cs:fontRef>
    <cs:defRPr sz="900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cs:styleClr val="auto"/>
    </cs:fontRef>
    <cs:defRPr sz="1000" b="1" i="0" u="none" strike="noStrike" kern="1200" spc="0" baseline="0"/>
  </cs:dataLabel>
  <cs:dataLabelCallout>
    <cs:lnRef idx="0">
      <cs:styleClr val="auto"/>
    </cs:lnRef>
    <cs:fillRef idx="0"/>
    <cs:effectRef idx="0"/>
    <cs:fontRef idx="minor">
      <cs:styleClr val="auto"/>
    </cs:fontRef>
    <cs:spPr>
      <a:solidFill>
        <a:schemeClr val="lt1"/>
      </a:solidFill>
      <a:ln>
        <a:solidFill>
          <a:schemeClr val="phClr"/>
        </a:solidFill>
      </a:ln>
    </cs:spPr>
    <cs:defRPr sz="1000" b="1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effectLst>
        <a:outerShdw blurRad="63500" sx="102000" sy="102000" algn="ctr" rotWithShape="0">
          <a:prstClr val="black">
            <a:alpha val="20000"/>
          </a:prstClr>
        </a:outerShdw>
      </a:effectLst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effectLst>
        <a:outerShdw blurRad="88900" sx="102000" sy="102000" algn="ctr" rotWithShape="0">
          <a:prstClr val="black">
            <a:alpha val="10000"/>
          </a:prstClr>
        </a:outerShdw>
      </a:effectLst>
      <a:scene3d>
        <a:camera prst="orthographicFront"/>
        <a:lightRig rig="threePt" dir="t"/>
      </a:scene3d>
      <a:sp3d>
        <a:bevelT w="127000" h="127000"/>
        <a:bevelB w="127000" h="127000"/>
      </a:sp3d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600" b="1" kern="1200" cap="all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94">
  <cs:axisTitle>
    <cs:lnRef idx="0"/>
    <cs:fillRef idx="0"/>
    <cs:effectRef idx="0"/>
    <cs:fontRef idx="minor">
      <a:schemeClr val="lt1">
        <a:lumMod val="85000"/>
      </a:schemeClr>
    </cs:fontRef>
    <cs:defRPr sz="900" b="1" kern="1200" cap="all"/>
  </cs:axisTitle>
  <cs:categoryAxis>
    <cs:lnRef idx="0"/>
    <cs:fillRef idx="0"/>
    <cs:effectRef idx="0"/>
    <cs:fontRef idx="minor">
      <a:schemeClr val="lt1">
        <a:lumMod val="85000"/>
      </a:schemeClr>
    </cs:fontRef>
    <cs:spPr/>
    <cs:defRPr sz="900" kern="1200"/>
  </cs:categoryAxis>
  <cs:chartArea>
    <cs:lnRef idx="0"/>
    <cs:fillRef idx="0"/>
    <cs:effectRef idx="0"/>
    <cs:fontRef idx="minor">
      <a:schemeClr val="dk1"/>
    </cs:fontRef>
    <cs:spPr>
      <a:gradFill flip="none" rotWithShape="1">
        <a:gsLst>
          <a:gs pos="0">
            <a:schemeClr val="dk1">
              <a:lumMod val="65000"/>
              <a:lumOff val="35000"/>
            </a:schemeClr>
          </a:gs>
          <a:gs pos="100000">
            <a:schemeClr val="dk1">
              <a:lumMod val="85000"/>
              <a:lumOff val="15000"/>
            </a:schemeClr>
          </a:gs>
        </a:gsLst>
        <a:path path="circle">
          <a:fillToRect l="50000" t="50000" r="50000" b="50000"/>
        </a:path>
        <a:tileRect/>
      </a:gradFill>
    </cs:spPr>
    <cs:defRPr sz="1000" kern="1200"/>
  </cs:chartArea>
  <cs:dataLabel>
    <cs:lnRef idx="0"/>
    <cs:fillRef idx="0"/>
    <cs:effectRef idx="0"/>
    <cs:fontRef idx="minor">
      <a:schemeClr val="lt1">
        <a:lumMod val="8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tx1"/>
    </cs:fontRef>
  </cs:dataPoint>
  <cs:dataPoint3D>
    <cs:lnRef idx="0"/>
    <cs:fillRef idx="3">
      <cs:styleClr val="auto"/>
    </cs:fillRef>
    <cs:effectRef idx="3"/>
    <cs:fontRef idx="minor">
      <a:schemeClr val="tx1"/>
    </cs:fontRef>
  </cs:dataPoint3D>
  <cs:dataPointLine>
    <cs:lnRef idx="0">
      <cs:styleClr val="auto"/>
    </cs:lnRef>
    <cs:fillRef idx="3"/>
    <cs:effectRef idx="3"/>
    <cs:fontRef idx="minor">
      <a:schemeClr val="tx1"/>
    </cs:fontRef>
    <cs:spPr>
      <a:ln w="349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tx1"/>
    </cs:fontRef>
    <cs:spPr>
      <a:ln w="9525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3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lt1">
        <a:lumMod val="85000"/>
      </a:schemeClr>
    </cs:fontRef>
    <cs:spPr>
      <a:ln w="9525">
        <a:solidFill>
          <a:schemeClr val="lt1">
            <a:lumMod val="95000"/>
            <a:alpha val="54000"/>
          </a:schemeClr>
        </a:solidFill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>
        <a:solidFill>
          <a:schemeClr val="lt1">
            <a:lumMod val="95000"/>
            <a:alpha val="54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>
        <a:solidFill>
          <a:schemeClr val="lt1">
            <a:lumMod val="95000"/>
            <a:alpha val="54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dk1">
            <a:lumMod val="50000"/>
            <a:lumOff val="50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>
        <a:solidFill>
          <a:schemeClr val="dk1">
            <a:lumMod val="60000"/>
            <a:lumOff val="40000"/>
          </a:schemeClr>
        </a:solidFill>
      </a:ln>
    </cs:spPr>
  </cs:gridlineMinor>
  <cs:hiLoLine>
    <cs:lnRef idx="0"/>
    <cs:fillRef idx="0"/>
    <cs:effectRef idx="0"/>
    <cs:fontRef idx="minor">
      <a:schemeClr val="tx1"/>
    </cs:fontRef>
    <cs:spPr>
      <a:ln w="9525">
        <a:solidFill>
          <a:schemeClr val="lt1">
            <a:lumMod val="95000"/>
            <a:alpha val="54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tx1"/>
    </cs:fontRef>
    <cs:spPr>
      <a:ln w="9525">
        <a:solidFill>
          <a:schemeClr val="lt1">
            <a:lumMod val="95000"/>
            <a:alpha val="54000"/>
          </a:schemeClr>
        </a:solidFill>
      </a:ln>
    </cs:spPr>
  </cs:leaderLine>
  <cs:legend>
    <cs:lnRef idx="0"/>
    <cs:fillRef idx="0"/>
    <cs:effectRef idx="0"/>
    <cs:fontRef idx="minor">
      <a:schemeClr val="lt1">
        <a:lumMod val="85000"/>
      </a:schemeClr>
    </cs:fontRef>
    <cs:defRPr sz="900" kern="1200"/>
  </cs:legend>
  <cs:plotArea>
    <cs:lnRef idx="0"/>
    <cs:fillRef idx="0"/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lt1">
        <a:lumMod val="85000"/>
      </a:schemeClr>
    </cs:fontRef>
    <cs:spPr/>
    <cs:defRPr sz="900" kern="1200"/>
  </cs:seriesAxis>
  <cs:seriesLine>
    <cs:lnRef idx="0"/>
    <cs:fillRef idx="0"/>
    <cs:effectRef idx="0"/>
    <cs:fontRef idx="minor">
      <a:schemeClr val="lt1"/>
    </cs:fontRef>
    <cs:spPr>
      <a:ln w="9525" cap="flat" cmpd="sng" algn="ctr">
        <a:solidFill>
          <a:schemeClr val="lt1">
            <a:lumMod val="95000"/>
            <a:alpha val="54000"/>
          </a:schemeClr>
        </a:solidFill>
        <a:round/>
      </a:ln>
    </cs:spPr>
  </cs:seriesLine>
  <cs:title>
    <cs:lnRef idx="0"/>
    <cs:fillRef idx="0"/>
    <cs:effectRef idx="0"/>
    <cs:fontRef idx="minor">
      <a:schemeClr val="lt1">
        <a:lumMod val="95000"/>
      </a:schemeClr>
    </cs:fontRef>
    <cs:defRPr sz="1600" b="1" kern="1200" spc="100" baseline="0">
      <a:effectLst>
        <a:outerShdw blurRad="50800" dist="38100" dir="5400000" algn="t" rotWithShape="0">
          <a:prstClr val="black">
            <a:alpha val="40000"/>
          </a:prstClr>
        </a:outerShdw>
      </a:effectLst>
    </cs:defRPr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lt1">
        <a:lumMod val="8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>
        <a:solidFill>
          <a:schemeClr val="lt1">
            <a:lumMod val="95000"/>
            <a:alpha val="54000"/>
          </a:schemeClr>
        </a:solidFill>
      </a:ln>
    </cs:spPr>
  </cs:upBar>
  <cs:valueAxis>
    <cs:lnRef idx="0"/>
    <cs:fillRef idx="0"/>
    <cs:effectRef idx="0"/>
    <cs:fontRef idx="minor">
      <a:schemeClr val="lt1">
        <a:lumMod val="85000"/>
      </a:schemeClr>
    </cs:fontRef>
    <cs:defRPr sz="900" kern="1200"/>
  </cs:valueAxis>
  <cs:wall>
    <cs:lnRef idx="0"/>
    <cs:fillRef idx="0"/>
    <cs:effectRef idx="0"/>
    <cs:fontRef idx="minor">
      <a:schemeClr val="tx1"/>
    </cs:fontRef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410">
  <cs:axisTitle>
    <cs:lnRef idx="0"/>
    <cs:fillRef idx="0"/>
    <cs:effectRef idx="0"/>
    <cs:fontRef idx="minor">
      <a:schemeClr val="tx1">
        <a:lumMod val="65000"/>
        <a:lumOff val="35000"/>
      </a:schemeClr>
    </cs:fontRef>
    <cs:spPr>
      <a:solidFill>
        <a:schemeClr val="bg1">
          <a:lumMod val="65000"/>
        </a:schemeClr>
      </a:solidFill>
      <a:ln w="19050">
        <a:solidFill>
          <a:schemeClr val="bg1"/>
        </a:solidFill>
      </a:ln>
    </cs:spPr>
    <cs:defRPr sz="9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/>
  </cs:chartArea>
  <cs:dataLabel>
    <cs:lnRef idx="0"/>
    <cs:fillRef idx="0"/>
    <cs:effectRef idx="0"/>
    <cs:fontRef idx="minor">
      <a:schemeClr val="lt1"/>
    </cs:fontRef>
    <cs:defRPr sz="9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19050">
        <a:solidFill>
          <a:schemeClr val="lt1"/>
        </a:solidFill>
      </a:ln>
    </cs:spPr>
  </cs:dataPoint>
  <cs:dataPoint3D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9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/>
  </cs:seriesAxis>
  <cs:seriesLine>
    <cs:lnRef idx="0"/>
    <cs:fillRef idx="0"/>
    <cs:effectRef idx="0"/>
    <cs:fontRef idx="minor">
      <a:schemeClr val="tx1"/>
    </cs:fontRef>
    <cs:spPr>
      <a:ln w="9525" cap="flat">
        <a:solidFill>
          <a:srgbClr val="D9D9D9"/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/>
  </cs:valueAxis>
  <cs:wall>
    <cs:lnRef idx="0"/>
    <cs:fillRef idx="0"/>
    <cs:effectRef idx="0"/>
    <cs:fontRef idx="minor">
      <a:schemeClr val="tx1"/>
    </cs:fontRef>
  </cs:wall>
</cs:chartStyle>
</file>

<file path=ppt/charts/style5.xml><?xml version="1.0" encoding="utf-8"?>
<cs:chartStyle xmlns:cs="http://schemas.microsoft.com/office/drawing/2012/chartStyle" xmlns:a="http://schemas.openxmlformats.org/drawingml/2006/main" id="419">
  <cs:axisTitle>
    <cs:lnRef idx="0"/>
    <cs:fillRef idx="0"/>
    <cs:effectRef idx="0"/>
    <cs:fontRef idx="minor">
      <a:schemeClr val="tx1">
        <a:lumMod val="65000"/>
        <a:lumOff val="35000"/>
      </a:schemeClr>
    </cs:fontRef>
    <cs:defRPr sz="9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/>
  </cs:chartArea>
  <cs:dataLabel>
    <cs:lnRef idx="0"/>
    <cs:fillRef idx="0"/>
    <cs:effectRef idx="0"/>
    <cs:fontRef idx="minor">
      <a:schemeClr val="tx1">
        <a:lumMod val="65000"/>
        <a:lumOff val="35000"/>
      </a:schemeClr>
    </cs:fontRef>
    <cs:defRPr sz="9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9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/>
  </cs:seriesAxis>
  <cs:seriesLine>
    <cs:lnRef idx="0"/>
    <cs:fillRef idx="0"/>
    <cs:effectRef idx="0"/>
    <cs:fontRef idx="minor">
      <a:schemeClr val="tx1"/>
    </cs:fontRef>
    <cs:spPr>
      <a:ln w="9525" cap="flat">
        <a:solidFill>
          <a:srgbClr val="D9D9D9"/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/>
  </cs:valueAxis>
  <cs:wall>
    <cs:lnRef idx="0"/>
    <cs:fillRef idx="0"/>
    <cs:effectRef idx="0"/>
    <cs:fontRef idx="minor">
      <a:schemeClr val="tx1"/>
    </cs:fontRef>
  </cs:wall>
</cs:chartStyle>
</file>

<file path=ppt/charts/style6.xml><?xml version="1.0" encoding="utf-8"?>
<cs:chartStyle xmlns:cs="http://schemas.microsoft.com/office/drawing/2012/chartStyle" xmlns:a="http://schemas.openxmlformats.org/drawingml/2006/main" id="238">
  <cs:axisTitle>
    <cs:lnRef idx="0"/>
    <cs:fillRef idx="0"/>
    <cs:effectRef idx="0"/>
    <cs:fontRef idx="minor">
      <a:schemeClr val="lt1"/>
    </cs:fontRef>
    <cs:defRPr sz="900" b="1" kern="1200"/>
  </cs:axisTitle>
  <cs:categoryAxis>
    <cs:lnRef idx="0">
      <cs:styleClr val="0"/>
    </cs:lnRef>
    <cs:fillRef idx="0"/>
    <cs:effectRef idx="0"/>
    <cs:fontRef idx="minor">
      <a:schemeClr val="lt1"/>
    </cs:fontRef>
    <cs:defRPr sz="900" kern="1200" spc="30" baseline="0"/>
  </cs:categoryAxis>
  <cs:chartArea>
    <cs:lnRef idx="0">
      <cs:styleClr val="0"/>
    </cs:lnRef>
    <cs:fillRef idx="0">
      <cs:styleClr val="0"/>
    </cs:fillRef>
    <cs:effectRef idx="0"/>
    <cs:fontRef idx="minor">
      <a:schemeClr val="dk1"/>
    </cs:fontRef>
    <cs:spPr>
      <a:solidFill>
        <a:schemeClr val="phClr"/>
      </a:solidFill>
      <a:ln w="9525" cap="flat" cmpd="sng" algn="ctr">
        <a:solidFill>
          <a:schemeClr val="lt1">
            <a:lumMod val="85000"/>
          </a:schemeClr>
        </a:solidFill>
        <a:round/>
      </a:ln>
    </cs:spPr>
    <cs:defRPr sz="1000" kern="1200"/>
  </cs:chartArea>
  <cs:dataLabel>
    <cs:lnRef idx="0"/>
    <cs:fillRef idx="0">
      <cs:styleClr val="0"/>
    </cs:fillRef>
    <cs:effectRef idx="0"/>
    <cs:fontRef idx="minor">
      <a:schemeClr val="lt1"/>
    </cs:fontRef>
    <cs:spPr>
      <a:solidFill>
        <a:schemeClr val="phClr"/>
      </a:solidFill>
    </cs:spPr>
    <cs:defRPr sz="900" b="1" kern="1200"/>
  </cs:dataLabel>
  <cs:dataLabelCallout>
    <cs:lnRef idx="0">
      <cs:styleClr val="auto"/>
    </cs:lnRef>
    <cs:fillRef idx="0"/>
    <cs:effectRef idx="0"/>
    <cs:fontRef idx="minor">
      <cs:styleClr val="auto"/>
    </cs:fontRef>
    <cs:spPr>
      <a:solidFill>
        <a:schemeClr val="lt1"/>
      </a:solidFill>
      <a:ln>
        <a:solidFill>
          <a:schemeClr val="phClr"/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pattFill prst="ltUpDiag">
        <a:fgClr>
          <a:schemeClr val="phClr"/>
        </a:fgClr>
        <a:bgClr>
          <a:schemeClr val="lt1"/>
        </a:bgClr>
      </a:patt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pattFill prst="ltUpDiag">
        <a:fgClr>
          <a:schemeClr val="phClr"/>
        </a:fgClr>
        <a:bgClr>
          <a:schemeClr val="lt1"/>
        </a:bgClr>
      </a:pattFill>
    </cs:spPr>
  </cs:dataPoint3D>
  <cs:dataPointLine>
    <cs:lnRef idx="0">
      <cs:styleClr val="auto"/>
    </cs:lnRef>
    <cs:fillRef idx="0"/>
    <cs:effectRef idx="0">
      <cs:styleClr val="auto"/>
    </cs:effectRef>
    <cs:fontRef idx="minor">
      <a:schemeClr val="dk1"/>
    </cs:fontRef>
    <cs:spPr>
      <a:ln w="25400" cap="rnd">
        <a:solidFill>
          <a:schemeClr val="lt1"/>
        </a:solidFill>
        <a:round/>
      </a:ln>
      <a:effectLst>
        <a:outerShdw dist="25400" dir="2700000" algn="tl" rotWithShape="0">
          <a:schemeClr val="phClr"/>
        </a:outerShdw>
      </a:effectLst>
    </cs:spPr>
  </cs:dataPointLine>
  <cs:dataPointMarker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Marker>
  <cs:dataPointMarkerLayout symbol="circle" size="14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>
      <cs:styleClr val="0"/>
    </cs:lnRef>
    <cs:fillRef idx="0"/>
    <cs:effectRef idx="0"/>
    <cs:fontRef idx="minor">
      <a:schemeClr val="lt1"/>
    </cs:fontRef>
    <cs:spPr>
      <a:ln w="9525">
        <a:solidFill>
          <a:schemeClr val="phClr">
            <a:lumMod val="60000"/>
            <a:lumOff val="40000"/>
          </a:schemeClr>
        </a:solidFill>
      </a:ln>
    </cs:spPr>
    <cs:defRPr sz="900" kern="1200"/>
  </cs:dataTable>
  <cs:downBar>
    <cs:lnRef idx="0">
      <cs:styleClr val="0"/>
    </cs:lnRef>
    <cs:fillRef idx="0"/>
    <cs:effectRef idx="0"/>
    <cs:fontRef idx="minor">
      <a:schemeClr val="dk1"/>
    </cs:fontRef>
    <cs:spPr>
      <a:solidFill>
        <a:schemeClr val="dk1">
          <a:lumMod val="35000"/>
          <a:lumOff val="65000"/>
        </a:schemeClr>
      </a:solidFill>
      <a:ln w="9525">
        <a:solidFill>
          <a:schemeClr val="phClr">
            <a:lumMod val="60000"/>
            <a:lumOff val="40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 cap="flat" cmpd="sng" algn="ctr">
        <a:gradFill>
          <a:gsLst>
            <a:gs pos="0">
              <a:schemeClr val="lt1"/>
            </a:gs>
            <a:gs pos="100000">
              <a:schemeClr val="lt1">
                <a:alpha val="0"/>
              </a:schemeClr>
            </a:gs>
          </a:gsLst>
          <a:lin ang="5400000" scaled="0"/>
        </a:gradFill>
        <a:round/>
      </a:ln>
    </cs:spPr>
  </cs:dropLine>
  <cs:errorBar>
    <cs:lnRef idx="0">
      <cs:styleClr val="0"/>
    </cs:lnRef>
    <cs:fillRef idx="0"/>
    <cs:effectRef idx="0"/>
    <cs:fontRef idx="minor">
      <a:schemeClr val="dk1"/>
    </cs:fontRef>
    <cs:spPr>
      <a:ln w="9525">
        <a:solidFill>
          <a:schemeClr val="phClr">
            <a:lumMod val="60000"/>
            <a:lumOff val="40000"/>
          </a:schemeClr>
        </a:solidFill>
        <a:round/>
      </a:ln>
      <a:effectLst>
        <a:glow rad="25400">
          <a:schemeClr val="lt1"/>
        </a:glow>
      </a:effectLst>
    </cs:spPr>
  </cs:errorBar>
  <cs:floor>
    <cs:lnRef idx="0"/>
    <cs:fillRef idx="0"/>
    <cs:effectRef idx="0"/>
    <cs:fontRef idx="minor">
      <a:schemeClr val="dk1"/>
    </cs:fontRef>
  </cs:floor>
  <cs:gridlineMajor>
    <cs:lnRef idx="0">
      <cs:styleClr val="0"/>
    </cs:lnRef>
    <cs:fillRef idx="0"/>
    <cs:effectRef idx="0"/>
    <cs:fontRef idx="minor">
      <a:schemeClr val="dk1"/>
    </cs:fontRef>
    <cs:spPr>
      <a:ln w="9525" cap="flat" cmpd="sng" algn="ctr">
        <a:solidFill>
          <a:schemeClr val="lt1">
            <a:alpha val="25000"/>
          </a:schemeClr>
        </a:solidFill>
        <a:round/>
      </a:ln>
    </cs:spPr>
  </cs:gridlineMajor>
  <cs:gridlineMinor>
    <cs:lnRef idx="0">
      <cs:styleClr val="0"/>
    </cs:lnRef>
    <cs:fillRef idx="0"/>
    <cs:effectRef idx="0"/>
    <cs:fontRef idx="minor">
      <a:schemeClr val="dk1"/>
    </cs:fontRef>
    <cs:spPr>
      <a:ln>
        <a:solidFill>
          <a:schemeClr val="lt1">
            <a:alpha val="10000"/>
          </a:schemeClr>
        </a:solidFill>
      </a:ln>
    </cs:spPr>
  </cs:gridlineMinor>
  <cs:hiLoLine>
    <cs:lnRef idx="0">
      <cs:styleClr val="0"/>
    </cs:lnRef>
    <cs:fillRef idx="0"/>
    <cs:effectRef idx="0"/>
    <cs:fontRef idx="minor">
      <a:schemeClr val="dk1"/>
    </cs:fontRef>
    <cs:spPr>
      <a:ln w="9525">
        <a:solidFill>
          <a:schemeClr val="phClr">
            <a:lumMod val="60000"/>
            <a:lumOff val="40000"/>
          </a:schemeClr>
        </a:solidFill>
        <a:prstDash val="dash"/>
      </a:ln>
    </cs:spPr>
  </cs:hiLoLine>
  <cs:leaderLine>
    <cs:lnRef idx="0">
      <cs:styleClr val="0"/>
    </cs:lnRef>
    <cs:fillRef idx="0"/>
    <cs:effectRef idx="0"/>
    <cs:fontRef idx="minor">
      <a:schemeClr val="dk1"/>
    </cs:fontRef>
    <cs:spPr>
      <a:ln w="9525">
        <a:solidFill>
          <a:schemeClr val="phClr">
            <a:lumMod val="60000"/>
            <a:lumOff val="40000"/>
          </a:schemeClr>
        </a:solidFill>
      </a:ln>
    </cs:spPr>
  </cs:leaderLine>
  <cs:legend>
    <cs:lnRef idx="0"/>
    <cs:fillRef idx="0"/>
    <cs:effectRef idx="0"/>
    <cs:fontRef idx="minor">
      <a:schemeClr val="lt1"/>
    </cs:fontRef>
    <cs:defRPr sz="900" kern="1200"/>
  </cs:legend>
  <cs:plotArea>
    <cs:lnRef idx="0"/>
    <cs:fillRef idx="0"/>
    <cs:effectRef idx="0"/>
    <cs:fontRef idx="minor">
      <a:schemeClr val="dk1"/>
    </cs:fontRef>
  </cs:plotArea>
  <cs:plotArea3D>
    <cs:lnRef idx="0"/>
    <cs:fillRef idx="0"/>
    <cs:effectRef idx="0"/>
    <cs:fontRef idx="minor">
      <a:schemeClr val="dk1"/>
    </cs:fontRef>
  </cs:plotArea3D>
  <cs:seriesAxis>
    <cs:lnRef idx="0">
      <cs:styleClr val="0"/>
    </cs:lnRef>
    <cs:fillRef idx="0"/>
    <cs:effectRef idx="0"/>
    <cs:fontRef idx="minor">
      <a:schemeClr val="lt1"/>
    </cs:fontRef>
    <cs:defRPr sz="900" kern="1200"/>
  </cs:seriesAxis>
  <cs:seriesLine>
    <cs:lnRef idx="0">
      <cs:styleClr val="0"/>
    </cs:lnRef>
    <cs:fillRef idx="0"/>
    <cs:effectRef idx="0"/>
    <cs:fontRef idx="minor">
      <a:schemeClr val="dk1"/>
    </cs:fontRef>
    <cs:spPr>
      <a:ln w="9525">
        <a:solidFill>
          <a:schemeClr val="phClr">
            <a:lumMod val="60000"/>
            <a:lumOff val="40000"/>
            <a:tint val="50000"/>
          </a:schemeClr>
        </a:solidFill>
        <a:prstDash val="dash"/>
      </a:ln>
    </cs:spPr>
  </cs:seriesLine>
  <cs:title>
    <cs:lnRef idx="0"/>
    <cs:fillRef idx="0"/>
    <cs:effectRef idx="0"/>
    <cs:fontRef idx="minor">
      <a:schemeClr val="lt1"/>
    </cs:fontRef>
    <cs:defRPr sz="1500" b="1" kern="1200" cap="all" spc="100" normalizeH="0" baseline="0"/>
  </cs:title>
  <cs:trendline>
    <cs:lnRef idx="0"/>
    <cs:fillRef idx="0"/>
    <cs:effectRef idx="0"/>
    <cs:fontRef idx="minor">
      <a:schemeClr val="dk1"/>
    </cs:fontRef>
    <cs:spPr>
      <a:ln w="28575" cap="rnd">
        <a:solidFill>
          <a:schemeClr val="lt1">
            <a:alpha val="50000"/>
          </a:schemeClr>
        </a:solidFill>
        <a:round/>
      </a:ln>
    </cs:spPr>
  </cs:trendline>
  <cs:trendlineLabel>
    <cs:lnRef idx="0"/>
    <cs:fillRef idx="0"/>
    <cs:effectRef idx="0"/>
    <cs:fontRef idx="minor">
      <a:schemeClr val="lt1"/>
    </cs:fontRef>
    <cs:defRPr sz="900" kern="1200"/>
  </cs:trendlineLabel>
  <cs:upBar>
    <cs:lnRef idx="0">
      <cs:styleClr val="0"/>
    </cs:lnRef>
    <cs:fillRef idx="0"/>
    <cs:effectRef idx="0"/>
    <cs:fontRef idx="minor">
      <a:schemeClr val="dk1"/>
    </cs:fontRef>
    <cs:spPr>
      <a:solidFill>
        <a:schemeClr val="lt1">
          <a:lumMod val="95000"/>
        </a:schemeClr>
      </a:solidFill>
      <a:ln w="9525">
        <a:solidFill>
          <a:schemeClr val="phClr">
            <a:lumMod val="60000"/>
            <a:lumOff val="40000"/>
          </a:schemeClr>
        </a:solidFill>
      </a:ln>
    </cs:spPr>
  </cs:upBar>
  <cs:valueAxis>
    <cs:lnRef idx="0"/>
    <cs:fillRef idx="0"/>
    <cs:effectRef idx="0"/>
    <cs:fontRef idx="minor">
      <a:schemeClr val="lt1"/>
    </cs:fontRef>
    <cs:defRPr sz="900" kern="1200"/>
  </cs:valueAxis>
  <cs:wall>
    <cs:lnRef idx="0"/>
    <cs:fillRef idx="0"/>
    <cs:effectRef idx="0"/>
    <cs:fontRef idx="minor">
      <a:schemeClr val="dk1"/>
    </cs:fontRef>
  </cs:wall>
</cs:chartStyle>
</file>

<file path=ppt/charts/style7.xml><?xml version="1.0" encoding="utf-8"?>
<cs:chartStyle xmlns:cs="http://schemas.microsoft.com/office/drawing/2012/chartStyle" xmlns:a="http://schemas.openxmlformats.org/drawingml/2006/main" id="209">
  <cs:axisTitle>
    <cs:lnRef idx="0"/>
    <cs:fillRef idx="0"/>
    <cs:effectRef idx="0"/>
    <cs:fontRef idx="minor">
      <a:schemeClr val="lt1">
        <a:lumMod val="85000"/>
      </a:schemeClr>
    </cs:fontRef>
    <cs:defRPr sz="900" b="1" kern="1200" cap="all"/>
  </cs:axisTitle>
  <cs:categoryAxis>
    <cs:lnRef idx="0"/>
    <cs:fillRef idx="0"/>
    <cs:effectRef idx="0"/>
    <cs:fontRef idx="minor">
      <a:schemeClr val="lt1">
        <a:lumMod val="85000"/>
      </a:schemeClr>
    </cs:fontRef>
    <cs:spPr>
      <a:ln w="12700" cap="flat" cmpd="sng" algn="ctr">
        <a:solidFill>
          <a:schemeClr val="lt1">
            <a:lumMod val="95000"/>
            <a:alpha val="54000"/>
          </a:schemeClr>
        </a:solidFill>
        <a:round/>
      </a:ln>
    </cs:spPr>
    <cs:defRPr sz="900" kern="1200"/>
  </cs:categoryAxis>
  <cs:chartArea>
    <cs:lnRef idx="0"/>
    <cs:fillRef idx="0"/>
    <cs:effectRef idx="0"/>
    <cs:fontRef idx="minor">
      <a:schemeClr val="dk1"/>
    </cs:fontRef>
    <cs:spPr>
      <a:gradFill flip="none" rotWithShape="1">
        <a:gsLst>
          <a:gs pos="0">
            <a:schemeClr val="dk1">
              <a:lumMod val="65000"/>
              <a:lumOff val="35000"/>
            </a:schemeClr>
          </a:gs>
          <a:gs pos="100000">
            <a:schemeClr val="dk1">
              <a:lumMod val="85000"/>
              <a:lumOff val="15000"/>
            </a:schemeClr>
          </a:gs>
        </a:gsLst>
        <a:path path="circle">
          <a:fillToRect l="50000" t="50000" r="50000" b="50000"/>
        </a:path>
        <a:tileRect/>
      </a:gradFill>
    </cs:spPr>
    <cs:defRPr sz="1000" kern="1200"/>
  </cs:chartArea>
  <cs:dataLabel>
    <cs:lnRef idx="0"/>
    <cs:fillRef idx="0"/>
    <cs:effectRef idx="0"/>
    <cs:fontRef idx="minor">
      <a:schemeClr val="lt1">
        <a:lumMod val="8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lt1"/>
    </cs:fontRef>
  </cs:dataPoint>
  <cs:dataPoint3D>
    <cs:lnRef idx="0"/>
    <cs:fillRef idx="3">
      <cs:styleClr val="auto"/>
    </cs:fillRef>
    <cs:effectRef idx="3"/>
    <cs:fontRef idx="minor">
      <a:schemeClr val="lt1"/>
    </cs:fontRef>
  </cs:dataPoint3D>
  <cs:dataPointLine>
    <cs:lnRef idx="0">
      <cs:styleClr val="auto"/>
    </cs:lnRef>
    <cs:fillRef idx="3"/>
    <cs:effectRef idx="3"/>
    <cs:fontRef idx="minor">
      <a:schemeClr val="lt1"/>
    </cs:fontRef>
    <cs:spPr>
      <a:ln w="349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lt1"/>
    </cs:fontRef>
    <cs:spPr>
      <a:ln w="9525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3"/>
    <cs:fontRef idx="minor">
      <a:schemeClr val="lt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lt1">
        <a:lumMod val="85000"/>
      </a:schemeClr>
    </cs:fontRef>
    <cs:spPr>
      <a:ln w="9525">
        <a:solidFill>
          <a:schemeClr val="lt1">
            <a:lumMod val="95000"/>
            <a:alpha val="54000"/>
          </a:schemeClr>
        </a:solidFill>
      </a:ln>
    </cs:spPr>
    <cs:defRPr sz="900" kern="1200"/>
  </cs:dataTable>
  <cs:downBar>
    <cs:lnRef idx="0"/>
    <cs:fillRef idx="0"/>
    <cs:effectRef idx="0"/>
    <cs:fontRef idx="minor">
      <a:schemeClr val="lt1"/>
    </cs:fontRef>
    <cs:spPr>
      <a:solidFill>
        <a:schemeClr val="dk1">
          <a:lumMod val="75000"/>
          <a:lumOff val="25000"/>
        </a:schemeClr>
      </a:solidFill>
      <a:ln w="9525">
        <a:solidFill>
          <a:schemeClr val="lt1">
            <a:lumMod val="95000"/>
            <a:alpha val="54000"/>
          </a:schemeClr>
        </a:solidFill>
      </a:ln>
    </cs:spPr>
  </cs:downBar>
  <cs:dropLine>
    <cs:lnRef idx="0"/>
    <cs:fillRef idx="0"/>
    <cs:effectRef idx="0"/>
    <cs:fontRef idx="minor">
      <a:schemeClr val="lt1"/>
    </cs:fontRef>
    <cs:spPr>
      <a:ln w="9525">
        <a:solidFill>
          <a:schemeClr val="lt1">
            <a:lumMod val="95000"/>
            <a:alpha val="54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lt1"/>
    </cs:fontRef>
    <cs:spPr>
      <a:ln w="9525" cap="flat" cmpd="sng" algn="ctr">
        <a:solidFill>
          <a:schemeClr val="lt1">
            <a:lumMod val="95000"/>
          </a:schemeClr>
        </a:solidFill>
        <a:round/>
      </a:ln>
    </cs:spPr>
  </cs:errorBar>
  <cs:floor>
    <cs:lnRef idx="0"/>
    <cs:fillRef idx="0"/>
    <cs:effectRef idx="0"/>
    <cs:fontRef idx="minor">
      <a:schemeClr val="lt1"/>
    </cs:fontRef>
  </cs:floor>
  <cs:gridlineMajor>
    <cs:lnRef idx="0"/>
    <cs:fillRef idx="0"/>
    <cs:effectRef idx="0"/>
    <cs:fontRef idx="minor">
      <a:schemeClr val="lt1"/>
    </cs:fontRef>
    <cs:spPr>
      <a:ln w="9525" cap="flat" cmpd="sng" algn="ctr">
        <a:solidFill>
          <a:schemeClr val="lt1">
            <a:lumMod val="95000"/>
            <a:alpha val="10000"/>
          </a:schemeClr>
        </a:solidFill>
        <a:round/>
      </a:ln>
    </cs:spPr>
  </cs:gridlineMajor>
  <cs:gridlineMinor>
    <cs:lnRef idx="0"/>
    <cs:fillRef idx="0"/>
    <cs:effectRef idx="0"/>
    <cs:fontRef idx="minor">
      <a:schemeClr val="lt1"/>
    </cs:fontRef>
    <cs:spPr>
      <a:ln>
        <a:solidFill>
          <a:schemeClr val="lt1">
            <a:lumMod val="95000"/>
            <a:alpha val="5000"/>
          </a:schemeClr>
        </a:solidFill>
      </a:ln>
    </cs:spPr>
  </cs:gridlineMinor>
  <cs:hiLoLine>
    <cs:lnRef idx="0"/>
    <cs:fillRef idx="0"/>
    <cs:effectRef idx="0"/>
    <cs:fontRef idx="minor">
      <a:schemeClr val="lt1"/>
    </cs:fontRef>
    <cs:spPr>
      <a:ln w="9525">
        <a:solidFill>
          <a:schemeClr val="lt1">
            <a:lumMod val="95000"/>
            <a:alpha val="54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lt1"/>
    </cs:fontRef>
    <cs:spPr>
      <a:ln w="9525">
        <a:solidFill>
          <a:schemeClr val="lt1">
            <a:lumMod val="95000"/>
            <a:alpha val="54000"/>
          </a:schemeClr>
        </a:solidFill>
      </a:ln>
    </cs:spPr>
  </cs:leaderLine>
  <cs:legend>
    <cs:lnRef idx="0"/>
    <cs:fillRef idx="0"/>
    <cs:effectRef idx="0"/>
    <cs:fontRef idx="minor">
      <a:schemeClr val="lt1">
        <a:lumMod val="85000"/>
      </a:schemeClr>
    </cs:fontRef>
    <cs:defRPr sz="900" kern="1200"/>
  </cs:legend>
  <cs:plotArea>
    <cs:lnRef idx="0"/>
    <cs:fillRef idx="0"/>
    <cs:effectRef idx="0"/>
    <cs:fontRef idx="minor">
      <a:schemeClr val="lt1"/>
    </cs:fontRef>
  </cs:plotArea>
  <cs:plotArea3D>
    <cs:lnRef idx="0"/>
    <cs:fillRef idx="0"/>
    <cs:effectRef idx="0"/>
    <cs:fontRef idx="minor">
      <a:schemeClr val="lt1"/>
    </cs:fontRef>
  </cs:plotArea3D>
  <cs:seriesAxis>
    <cs:lnRef idx="0"/>
    <cs:fillRef idx="0"/>
    <cs:effectRef idx="0"/>
    <cs:fontRef idx="minor">
      <a:schemeClr val="lt1">
        <a:lumMod val="85000"/>
      </a:schemeClr>
    </cs:fontRef>
    <cs:spPr>
      <a:ln w="12700" cap="flat" cmpd="sng" algn="ctr">
        <a:solidFill>
          <a:schemeClr val="lt1">
            <a:lumMod val="95000"/>
            <a:alpha val="54000"/>
          </a:schemeClr>
        </a:solidFill>
        <a:round/>
      </a:ln>
    </cs:spPr>
    <cs:defRPr sz="900" kern="1200"/>
  </cs:seriesAxis>
  <cs:seriesLine>
    <cs:lnRef idx="0"/>
    <cs:fillRef idx="0"/>
    <cs:effectRef idx="0"/>
    <cs:fontRef idx="minor">
      <a:schemeClr val="lt1"/>
    </cs:fontRef>
    <cs:spPr>
      <a:ln w="9525" cap="flat" cmpd="sng" algn="ctr">
        <a:solidFill>
          <a:schemeClr val="lt1">
            <a:lumMod val="95000"/>
            <a:alpha val="54000"/>
          </a:schemeClr>
        </a:solidFill>
        <a:round/>
      </a:ln>
    </cs:spPr>
  </cs:seriesLine>
  <cs:title>
    <cs:lnRef idx="0"/>
    <cs:fillRef idx="0"/>
    <cs:effectRef idx="0"/>
    <cs:fontRef idx="minor">
      <a:schemeClr val="lt1">
        <a:lumMod val="95000"/>
      </a:schemeClr>
    </cs:fontRef>
    <cs:defRPr sz="1600" b="1" kern="1200" spc="100" baseline="0">
      <a:effectLst>
        <a:outerShdw blurRad="50800" dist="38100" dir="5400000" algn="t" rotWithShape="0">
          <a:prstClr val="black">
            <a:alpha val="40000"/>
          </a:prstClr>
        </a:outerShdw>
      </a:effectLst>
    </cs:defRPr>
  </cs:title>
  <cs:trendline>
    <cs:lnRef idx="0">
      <cs:styleClr val="auto"/>
    </cs:lnRef>
    <cs:fillRef idx="0"/>
    <cs:effectRef idx="0"/>
    <cs:fontRef idx="minor">
      <a:schemeClr val="lt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lt1">
        <a:lumMod val="85000"/>
      </a:schemeClr>
    </cs:fontRef>
    <cs:defRPr sz="900" kern="1200"/>
  </cs:trendlineLabel>
  <cs:upBar>
    <cs:lnRef idx="0"/>
    <cs:fillRef idx="0"/>
    <cs:effectRef idx="0"/>
    <cs:fontRef idx="minor">
      <a:schemeClr val="lt1"/>
    </cs:fontRef>
    <cs:spPr>
      <a:solidFill>
        <a:schemeClr val="lt1"/>
      </a:solidFill>
      <a:ln w="9525">
        <a:solidFill>
          <a:schemeClr val="lt1">
            <a:lumMod val="95000"/>
            <a:alpha val="54000"/>
          </a:schemeClr>
        </a:solidFill>
      </a:ln>
    </cs:spPr>
  </cs:upBar>
  <cs:valueAxis>
    <cs:lnRef idx="0"/>
    <cs:fillRef idx="0"/>
    <cs:effectRef idx="0"/>
    <cs:fontRef idx="minor">
      <a:schemeClr val="lt1">
        <a:lumMod val="85000"/>
      </a:schemeClr>
    </cs:fontRef>
    <cs:defRPr sz="900" kern="1200"/>
  </cs:valueAxis>
  <cs:wall>
    <cs:lnRef idx="0"/>
    <cs:fillRef idx="0"/>
    <cs:effectRef idx="0"/>
    <cs:fontRef idx="minor">
      <a:schemeClr val="lt1"/>
    </cs:fontRef>
  </cs:wall>
</cs:chartStyle>
</file>

<file path=ppt/charts/style8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rawings/drawing1.xml><?xml version="1.0" encoding="utf-8"?>
<c:userShapes xmlns:c="http://schemas.openxmlformats.org/drawingml/2006/chart">
  <cdr:relSizeAnchor xmlns:cdr="http://schemas.openxmlformats.org/drawingml/2006/chartDrawing">
    <cdr:from>
      <cdr:x>0.66423</cdr:x>
      <cdr:y>0.26085</cdr:y>
    </cdr:from>
    <cdr:to>
      <cdr:x>0.83848</cdr:x>
      <cdr:y>0.37779</cdr:y>
    </cdr:to>
    <cdr:sp macro="" textlink="">
      <cdr:nvSpPr>
        <cdr:cNvPr id="2" name="Rectangle 1">
          <a:extLst xmlns:a="http://schemas.openxmlformats.org/drawingml/2006/main">
            <a:ext uri="{FF2B5EF4-FFF2-40B4-BE49-F238E27FC236}">
              <a16:creationId xmlns:a16="http://schemas.microsoft.com/office/drawing/2014/main" id="{64E1A825-C3C7-BFFF-1D3A-87F52C7EEA1F}"/>
            </a:ext>
          </a:extLst>
        </cdr:cNvPr>
        <cdr:cNvSpPr/>
      </cdr:nvSpPr>
      <cdr:spPr>
        <a:xfrm xmlns:a="http://schemas.openxmlformats.org/drawingml/2006/main">
          <a:off x="2574953" y="567859"/>
          <a:ext cx="675460" cy="254557"/>
        </a:xfrm>
        <a:prstGeom xmlns:a="http://schemas.openxmlformats.org/drawingml/2006/main" prst="rect">
          <a:avLst/>
        </a:prstGeom>
        <a:solidFill xmlns:a="http://schemas.openxmlformats.org/drawingml/2006/main">
          <a:schemeClr val="bg1">
            <a:lumMod val="50000"/>
          </a:schemeClr>
        </a:solidFill>
        <a:ln xmlns:a="http://schemas.openxmlformats.org/drawingml/2006/main">
          <a:noFill/>
        </a:ln>
      </cdr:spPr>
      <cdr:style>
        <a:lnRef xmlns:a="http://schemas.openxmlformats.org/drawingml/2006/main" idx="2">
          <a:schemeClr val="accent1">
            <a:shade val="15000"/>
          </a:schemeClr>
        </a:lnRef>
        <a:fillRef xmlns:a="http://schemas.openxmlformats.org/drawingml/2006/main" idx="1">
          <a:schemeClr val="accent1"/>
        </a:fillRef>
        <a:effectRef xmlns:a="http://schemas.openxmlformats.org/drawingml/2006/main" idx="0">
          <a:schemeClr val="accent1"/>
        </a:effectRef>
        <a:fontRef xmlns:a="http://schemas.openxmlformats.org/drawingml/2006/main" idx="minor">
          <a:schemeClr val="lt1"/>
        </a:fontRef>
      </cdr:style>
      <cdr:txBody>
        <a:bodyPr xmlns:a="http://schemas.openxmlformats.org/drawingml/2006/main" vertOverflow="clip"/>
        <a:lstStyle xmlns:a="http://schemas.openxmlformats.org/drawingml/2006/main"/>
        <a:p xmlns:a="http://schemas.openxmlformats.org/drawingml/2006/main">
          <a:r>
            <a:rPr lang="en-NZ" kern="1200" dirty="0">
              <a:ln>
                <a:solidFill>
                  <a:schemeClr val="bg1"/>
                </a:solidFill>
              </a:ln>
            </a:rPr>
            <a:t>35.71%</a:t>
          </a:r>
        </a:p>
      </cdr:txBody>
    </cdr:sp>
  </cdr:relSizeAnchor>
</c:userShapes>
</file>

<file path=ppt/drawings/drawing2.xml><?xml version="1.0" encoding="utf-8"?>
<c:userShapes xmlns:c="http://schemas.openxmlformats.org/drawingml/2006/chart">
  <cdr:relSizeAnchor xmlns:cdr="http://schemas.openxmlformats.org/drawingml/2006/chartDrawing">
    <cdr:from>
      <cdr:x>0.67238</cdr:x>
      <cdr:y>0.25794</cdr:y>
    </cdr:from>
    <cdr:to>
      <cdr:x>0.85118</cdr:x>
      <cdr:y>0.35141</cdr:y>
    </cdr:to>
    <cdr:sp macro="" textlink="">
      <cdr:nvSpPr>
        <cdr:cNvPr id="2" name="Rectangle 1">
          <a:extLst xmlns:a="http://schemas.openxmlformats.org/drawingml/2006/main">
            <a:ext uri="{FF2B5EF4-FFF2-40B4-BE49-F238E27FC236}">
              <a16:creationId xmlns:a16="http://schemas.microsoft.com/office/drawing/2014/main" id="{F2F6CA13-C268-9F04-F8C5-4B41A1483C7D}"/>
            </a:ext>
          </a:extLst>
        </cdr:cNvPr>
        <cdr:cNvSpPr/>
      </cdr:nvSpPr>
      <cdr:spPr>
        <a:xfrm xmlns:a="http://schemas.openxmlformats.org/drawingml/2006/main">
          <a:off x="2559556" y="563857"/>
          <a:ext cx="680606" cy="204331"/>
        </a:xfrm>
        <a:prstGeom xmlns:a="http://schemas.openxmlformats.org/drawingml/2006/main" prst="rect">
          <a:avLst/>
        </a:prstGeom>
        <a:solidFill xmlns:a="http://schemas.openxmlformats.org/drawingml/2006/main">
          <a:schemeClr val="bg1">
            <a:lumMod val="50000"/>
          </a:schemeClr>
        </a:solidFill>
        <a:ln xmlns:a="http://schemas.openxmlformats.org/drawingml/2006/main">
          <a:solidFill>
            <a:schemeClr val="bg1">
              <a:lumMod val="50000"/>
            </a:schemeClr>
          </a:solidFill>
        </a:ln>
      </cdr:spPr>
      <cdr:style>
        <a:lnRef xmlns:a="http://schemas.openxmlformats.org/drawingml/2006/main" idx="2">
          <a:schemeClr val="accent1">
            <a:shade val="15000"/>
          </a:schemeClr>
        </a:lnRef>
        <a:fillRef xmlns:a="http://schemas.openxmlformats.org/drawingml/2006/main" idx="1">
          <a:schemeClr val="accent1"/>
        </a:fillRef>
        <a:effectRef xmlns:a="http://schemas.openxmlformats.org/drawingml/2006/main" idx="0">
          <a:schemeClr val="accent1"/>
        </a:effectRef>
        <a:fontRef xmlns:a="http://schemas.openxmlformats.org/drawingml/2006/main" idx="minor">
          <a:schemeClr val="lt1"/>
        </a:fontRef>
      </cdr:style>
      <cdr:txBody>
        <a:bodyPr xmlns:a="http://schemas.openxmlformats.org/drawingml/2006/main" vertOverflow="clip"/>
        <a:lstStyle xmlns:a="http://schemas.openxmlformats.org/drawingml/2006/main"/>
        <a:p xmlns:a="http://schemas.openxmlformats.org/drawingml/2006/main">
          <a:r>
            <a:rPr lang="en-NZ" b="1" kern="1200">
              <a:solidFill>
                <a:schemeClr val="bg1"/>
              </a:solidFill>
            </a:rPr>
            <a:t>37.68%</a:t>
          </a:r>
        </a:p>
      </cdr:txBody>
    </cdr:sp>
  </cdr:relSizeAnchor>
</c:userShap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3951" y="1749795"/>
            <a:ext cx="12851448" cy="3722335"/>
          </a:xfrm>
        </p:spPr>
        <p:txBody>
          <a:bodyPr anchor="b"/>
          <a:lstStyle>
            <a:lvl1pPr algn="ctr">
              <a:defRPr sz="9354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89919" y="5615678"/>
            <a:ext cx="11339513" cy="2581379"/>
          </a:xfrm>
        </p:spPr>
        <p:txBody>
          <a:bodyPr/>
          <a:lstStyle>
            <a:lvl1pPr marL="0" indent="0" algn="ctr">
              <a:buNone/>
              <a:defRPr sz="3742"/>
            </a:lvl1pPr>
            <a:lvl2pPr marL="712775" indent="0" algn="ctr">
              <a:buNone/>
              <a:defRPr sz="3118"/>
            </a:lvl2pPr>
            <a:lvl3pPr marL="1425550" indent="0" algn="ctr">
              <a:buNone/>
              <a:defRPr sz="2806"/>
            </a:lvl3pPr>
            <a:lvl4pPr marL="2138324" indent="0" algn="ctr">
              <a:buNone/>
              <a:defRPr sz="2494"/>
            </a:lvl4pPr>
            <a:lvl5pPr marL="2851099" indent="0" algn="ctr">
              <a:buNone/>
              <a:defRPr sz="2494"/>
            </a:lvl5pPr>
            <a:lvl6pPr marL="3563874" indent="0" algn="ctr">
              <a:buNone/>
              <a:defRPr sz="2494"/>
            </a:lvl6pPr>
            <a:lvl7pPr marL="4276649" indent="0" algn="ctr">
              <a:buNone/>
              <a:defRPr sz="2494"/>
            </a:lvl7pPr>
            <a:lvl8pPr marL="4989424" indent="0" algn="ctr">
              <a:buNone/>
              <a:defRPr sz="2494"/>
            </a:lvl8pPr>
            <a:lvl9pPr marL="5702198" indent="0" algn="ctr">
              <a:buNone/>
              <a:defRPr sz="2494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3EC942-BB70-4E76-8AE2-6AB6D073FD99}" type="datetimeFigureOut">
              <a:rPr lang="en-NZ" smtClean="0"/>
              <a:t>6/06/2026</a:t>
            </a:fld>
            <a:endParaRPr lang="en-NZ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B71BC8-2D64-4B2E-AF30-085D0F2435E5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309841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3EC942-BB70-4E76-8AE2-6AB6D073FD99}" type="datetimeFigureOut">
              <a:rPr lang="en-NZ" smtClean="0"/>
              <a:t>6/06/2026</a:t>
            </a:fld>
            <a:endParaRPr lang="en-NZ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B71BC8-2D64-4B2E-AF30-085D0F2435E5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3168220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31582" y="2665532"/>
            <a:ext cx="13040439" cy="4447496"/>
          </a:xfrm>
        </p:spPr>
        <p:txBody>
          <a:bodyPr anchor="b"/>
          <a:lstStyle>
            <a:lvl1pPr>
              <a:defRPr sz="9354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31582" y="7155103"/>
            <a:ext cx="13040439" cy="2338833"/>
          </a:xfrm>
        </p:spPr>
        <p:txBody>
          <a:bodyPr/>
          <a:lstStyle>
            <a:lvl1pPr marL="0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1pPr>
            <a:lvl2pPr marL="712775" indent="0">
              <a:buNone/>
              <a:defRPr sz="3118">
                <a:solidFill>
                  <a:schemeClr val="tx1">
                    <a:tint val="82000"/>
                  </a:schemeClr>
                </a:solidFill>
              </a:defRPr>
            </a:lvl2pPr>
            <a:lvl3pPr marL="1425550" indent="0">
              <a:buNone/>
              <a:defRPr sz="2806">
                <a:solidFill>
                  <a:schemeClr val="tx1">
                    <a:tint val="82000"/>
                  </a:schemeClr>
                </a:solidFill>
              </a:defRPr>
            </a:lvl3pPr>
            <a:lvl4pPr marL="2138324" indent="0">
              <a:buNone/>
              <a:defRPr sz="2494">
                <a:solidFill>
                  <a:schemeClr val="tx1">
                    <a:tint val="82000"/>
                  </a:schemeClr>
                </a:solidFill>
              </a:defRPr>
            </a:lvl4pPr>
            <a:lvl5pPr marL="2851099" indent="0">
              <a:buNone/>
              <a:defRPr sz="2494">
                <a:solidFill>
                  <a:schemeClr val="tx1">
                    <a:tint val="82000"/>
                  </a:schemeClr>
                </a:solidFill>
              </a:defRPr>
            </a:lvl5pPr>
            <a:lvl6pPr marL="3563874" indent="0">
              <a:buNone/>
              <a:defRPr sz="2494">
                <a:solidFill>
                  <a:schemeClr val="tx1">
                    <a:tint val="82000"/>
                  </a:schemeClr>
                </a:solidFill>
              </a:defRPr>
            </a:lvl6pPr>
            <a:lvl7pPr marL="4276649" indent="0">
              <a:buNone/>
              <a:defRPr sz="2494">
                <a:solidFill>
                  <a:schemeClr val="tx1">
                    <a:tint val="82000"/>
                  </a:schemeClr>
                </a:solidFill>
              </a:defRPr>
            </a:lvl7pPr>
            <a:lvl8pPr marL="4989424" indent="0">
              <a:buNone/>
              <a:defRPr sz="2494">
                <a:solidFill>
                  <a:schemeClr val="tx1">
                    <a:tint val="82000"/>
                  </a:schemeClr>
                </a:solidFill>
              </a:defRPr>
            </a:lvl8pPr>
            <a:lvl9pPr marL="5702198" indent="0">
              <a:buNone/>
              <a:defRPr sz="2494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3EC942-BB70-4E76-8AE2-6AB6D073FD99}" type="datetimeFigureOut">
              <a:rPr lang="en-NZ" smtClean="0"/>
              <a:t>6/06/2026</a:t>
            </a:fld>
            <a:endParaRPr lang="en-NZ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B71BC8-2D64-4B2E-AF30-085D0F2435E5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0718934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39455" y="2846200"/>
            <a:ext cx="6425724" cy="6783857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654171" y="2846200"/>
            <a:ext cx="6425724" cy="6783857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3EC942-BB70-4E76-8AE2-6AB6D073FD99}" type="datetimeFigureOut">
              <a:rPr lang="en-NZ" smtClean="0"/>
              <a:t>6/06/2026</a:t>
            </a:fld>
            <a:endParaRPr lang="en-N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B71BC8-2D64-4B2E-AF30-085D0F2435E5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5946361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41425" y="569242"/>
            <a:ext cx="13040439" cy="206659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41426" y="2620980"/>
            <a:ext cx="6396193" cy="1284502"/>
          </a:xfrm>
        </p:spPr>
        <p:txBody>
          <a:bodyPr anchor="b"/>
          <a:lstStyle>
            <a:lvl1pPr marL="0" indent="0">
              <a:buNone/>
              <a:defRPr sz="3742" b="1"/>
            </a:lvl1pPr>
            <a:lvl2pPr marL="712775" indent="0">
              <a:buNone/>
              <a:defRPr sz="3118" b="1"/>
            </a:lvl2pPr>
            <a:lvl3pPr marL="1425550" indent="0">
              <a:buNone/>
              <a:defRPr sz="2806" b="1"/>
            </a:lvl3pPr>
            <a:lvl4pPr marL="2138324" indent="0">
              <a:buNone/>
              <a:defRPr sz="2494" b="1"/>
            </a:lvl4pPr>
            <a:lvl5pPr marL="2851099" indent="0">
              <a:buNone/>
              <a:defRPr sz="2494" b="1"/>
            </a:lvl5pPr>
            <a:lvl6pPr marL="3563874" indent="0">
              <a:buNone/>
              <a:defRPr sz="2494" b="1"/>
            </a:lvl6pPr>
            <a:lvl7pPr marL="4276649" indent="0">
              <a:buNone/>
              <a:defRPr sz="2494" b="1"/>
            </a:lvl7pPr>
            <a:lvl8pPr marL="4989424" indent="0">
              <a:buNone/>
              <a:defRPr sz="2494" b="1"/>
            </a:lvl8pPr>
            <a:lvl9pPr marL="5702198" indent="0">
              <a:buNone/>
              <a:defRPr sz="2494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41426" y="3905482"/>
            <a:ext cx="6396193" cy="5744375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654172" y="2620980"/>
            <a:ext cx="6427693" cy="1284502"/>
          </a:xfrm>
        </p:spPr>
        <p:txBody>
          <a:bodyPr anchor="b"/>
          <a:lstStyle>
            <a:lvl1pPr marL="0" indent="0">
              <a:buNone/>
              <a:defRPr sz="3742" b="1"/>
            </a:lvl1pPr>
            <a:lvl2pPr marL="712775" indent="0">
              <a:buNone/>
              <a:defRPr sz="3118" b="1"/>
            </a:lvl2pPr>
            <a:lvl3pPr marL="1425550" indent="0">
              <a:buNone/>
              <a:defRPr sz="2806" b="1"/>
            </a:lvl3pPr>
            <a:lvl4pPr marL="2138324" indent="0">
              <a:buNone/>
              <a:defRPr sz="2494" b="1"/>
            </a:lvl4pPr>
            <a:lvl5pPr marL="2851099" indent="0">
              <a:buNone/>
              <a:defRPr sz="2494" b="1"/>
            </a:lvl5pPr>
            <a:lvl6pPr marL="3563874" indent="0">
              <a:buNone/>
              <a:defRPr sz="2494" b="1"/>
            </a:lvl6pPr>
            <a:lvl7pPr marL="4276649" indent="0">
              <a:buNone/>
              <a:defRPr sz="2494" b="1"/>
            </a:lvl7pPr>
            <a:lvl8pPr marL="4989424" indent="0">
              <a:buNone/>
              <a:defRPr sz="2494" b="1"/>
            </a:lvl8pPr>
            <a:lvl9pPr marL="5702198" indent="0">
              <a:buNone/>
              <a:defRPr sz="2494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654172" y="3905482"/>
            <a:ext cx="6427693" cy="5744375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3EC942-BB70-4E76-8AE2-6AB6D073FD99}" type="datetimeFigureOut">
              <a:rPr lang="en-NZ" smtClean="0"/>
              <a:t>6/06/2026</a:t>
            </a:fld>
            <a:endParaRPr lang="en-NZ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B71BC8-2D64-4B2E-AF30-085D0F2435E5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6630698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3EC942-BB70-4E76-8AE2-6AB6D073FD99}" type="datetimeFigureOut">
              <a:rPr lang="en-NZ" smtClean="0"/>
              <a:t>6/06/2026</a:t>
            </a:fld>
            <a:endParaRPr lang="en-NZ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B71BC8-2D64-4B2E-AF30-085D0F2435E5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2759427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3EC942-BB70-4E76-8AE2-6AB6D073FD99}" type="datetimeFigureOut">
              <a:rPr lang="en-NZ" smtClean="0"/>
              <a:t>6/06/2026</a:t>
            </a:fld>
            <a:endParaRPr lang="en-NZ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B71BC8-2D64-4B2E-AF30-085D0F2435E5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42906655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41425" y="712788"/>
            <a:ext cx="4876384" cy="2494756"/>
          </a:xfrm>
        </p:spPr>
        <p:txBody>
          <a:bodyPr anchor="b"/>
          <a:lstStyle>
            <a:lvl1pPr>
              <a:defRPr sz="4989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27693" y="1539425"/>
            <a:ext cx="7654171" cy="7598117"/>
          </a:xfrm>
        </p:spPr>
        <p:txBody>
          <a:bodyPr/>
          <a:lstStyle>
            <a:lvl1pPr>
              <a:defRPr sz="4989"/>
            </a:lvl1pPr>
            <a:lvl2pPr>
              <a:defRPr sz="4365"/>
            </a:lvl2pPr>
            <a:lvl3pPr>
              <a:defRPr sz="3742"/>
            </a:lvl3pPr>
            <a:lvl4pPr>
              <a:defRPr sz="3118"/>
            </a:lvl4pPr>
            <a:lvl5pPr>
              <a:defRPr sz="3118"/>
            </a:lvl5pPr>
            <a:lvl6pPr>
              <a:defRPr sz="3118"/>
            </a:lvl6pPr>
            <a:lvl7pPr>
              <a:defRPr sz="3118"/>
            </a:lvl7pPr>
            <a:lvl8pPr>
              <a:defRPr sz="3118"/>
            </a:lvl8pPr>
            <a:lvl9pPr>
              <a:defRPr sz="3118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41425" y="3207544"/>
            <a:ext cx="4876384" cy="5942372"/>
          </a:xfrm>
        </p:spPr>
        <p:txBody>
          <a:bodyPr/>
          <a:lstStyle>
            <a:lvl1pPr marL="0" indent="0">
              <a:buNone/>
              <a:defRPr sz="2494"/>
            </a:lvl1pPr>
            <a:lvl2pPr marL="712775" indent="0">
              <a:buNone/>
              <a:defRPr sz="2183"/>
            </a:lvl2pPr>
            <a:lvl3pPr marL="1425550" indent="0">
              <a:buNone/>
              <a:defRPr sz="1871"/>
            </a:lvl3pPr>
            <a:lvl4pPr marL="2138324" indent="0">
              <a:buNone/>
              <a:defRPr sz="1559"/>
            </a:lvl4pPr>
            <a:lvl5pPr marL="2851099" indent="0">
              <a:buNone/>
              <a:defRPr sz="1559"/>
            </a:lvl5pPr>
            <a:lvl6pPr marL="3563874" indent="0">
              <a:buNone/>
              <a:defRPr sz="1559"/>
            </a:lvl6pPr>
            <a:lvl7pPr marL="4276649" indent="0">
              <a:buNone/>
              <a:defRPr sz="1559"/>
            </a:lvl7pPr>
            <a:lvl8pPr marL="4989424" indent="0">
              <a:buNone/>
              <a:defRPr sz="1559"/>
            </a:lvl8pPr>
            <a:lvl9pPr marL="5702198" indent="0">
              <a:buNone/>
              <a:defRPr sz="1559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3EC942-BB70-4E76-8AE2-6AB6D073FD99}" type="datetimeFigureOut">
              <a:rPr lang="en-NZ" smtClean="0"/>
              <a:t>6/06/2026</a:t>
            </a:fld>
            <a:endParaRPr lang="en-N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B71BC8-2D64-4B2E-AF30-085D0F2435E5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0904337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41425" y="712788"/>
            <a:ext cx="4876384" cy="2494756"/>
          </a:xfrm>
        </p:spPr>
        <p:txBody>
          <a:bodyPr anchor="b"/>
          <a:lstStyle>
            <a:lvl1pPr>
              <a:defRPr sz="4989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427693" y="1539425"/>
            <a:ext cx="7654171" cy="7598117"/>
          </a:xfrm>
        </p:spPr>
        <p:txBody>
          <a:bodyPr anchor="t"/>
          <a:lstStyle>
            <a:lvl1pPr marL="0" indent="0">
              <a:buNone/>
              <a:defRPr sz="4989"/>
            </a:lvl1pPr>
            <a:lvl2pPr marL="712775" indent="0">
              <a:buNone/>
              <a:defRPr sz="4365"/>
            </a:lvl2pPr>
            <a:lvl3pPr marL="1425550" indent="0">
              <a:buNone/>
              <a:defRPr sz="3742"/>
            </a:lvl3pPr>
            <a:lvl4pPr marL="2138324" indent="0">
              <a:buNone/>
              <a:defRPr sz="3118"/>
            </a:lvl4pPr>
            <a:lvl5pPr marL="2851099" indent="0">
              <a:buNone/>
              <a:defRPr sz="3118"/>
            </a:lvl5pPr>
            <a:lvl6pPr marL="3563874" indent="0">
              <a:buNone/>
              <a:defRPr sz="3118"/>
            </a:lvl6pPr>
            <a:lvl7pPr marL="4276649" indent="0">
              <a:buNone/>
              <a:defRPr sz="3118"/>
            </a:lvl7pPr>
            <a:lvl8pPr marL="4989424" indent="0">
              <a:buNone/>
              <a:defRPr sz="3118"/>
            </a:lvl8pPr>
            <a:lvl9pPr marL="5702198" indent="0">
              <a:buNone/>
              <a:defRPr sz="3118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41425" y="3207544"/>
            <a:ext cx="4876384" cy="5942372"/>
          </a:xfrm>
        </p:spPr>
        <p:txBody>
          <a:bodyPr/>
          <a:lstStyle>
            <a:lvl1pPr marL="0" indent="0">
              <a:buNone/>
              <a:defRPr sz="2494"/>
            </a:lvl1pPr>
            <a:lvl2pPr marL="712775" indent="0">
              <a:buNone/>
              <a:defRPr sz="2183"/>
            </a:lvl2pPr>
            <a:lvl3pPr marL="1425550" indent="0">
              <a:buNone/>
              <a:defRPr sz="1871"/>
            </a:lvl3pPr>
            <a:lvl4pPr marL="2138324" indent="0">
              <a:buNone/>
              <a:defRPr sz="1559"/>
            </a:lvl4pPr>
            <a:lvl5pPr marL="2851099" indent="0">
              <a:buNone/>
              <a:defRPr sz="1559"/>
            </a:lvl5pPr>
            <a:lvl6pPr marL="3563874" indent="0">
              <a:buNone/>
              <a:defRPr sz="1559"/>
            </a:lvl6pPr>
            <a:lvl7pPr marL="4276649" indent="0">
              <a:buNone/>
              <a:defRPr sz="1559"/>
            </a:lvl7pPr>
            <a:lvl8pPr marL="4989424" indent="0">
              <a:buNone/>
              <a:defRPr sz="1559"/>
            </a:lvl8pPr>
            <a:lvl9pPr marL="5702198" indent="0">
              <a:buNone/>
              <a:defRPr sz="1559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3EC942-BB70-4E76-8AE2-6AB6D073FD99}" type="datetimeFigureOut">
              <a:rPr lang="en-NZ" smtClean="0"/>
              <a:t>6/06/2026</a:t>
            </a:fld>
            <a:endParaRPr lang="en-N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B71BC8-2D64-4B2E-AF30-085D0F2435E5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41588732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3EC942-BB70-4E76-8AE2-6AB6D073FD99}" type="datetimeFigureOut">
              <a:rPr lang="en-NZ" smtClean="0"/>
              <a:t>6/06/2026</a:t>
            </a:fld>
            <a:endParaRPr lang="en-NZ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B71BC8-2D64-4B2E-AF30-085D0F2435E5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9660140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819786" y="569240"/>
            <a:ext cx="3260110" cy="9060817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39456" y="569240"/>
            <a:ext cx="9591338" cy="9060817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3EC942-BB70-4E76-8AE2-6AB6D073FD99}" type="datetimeFigureOut">
              <a:rPr lang="en-NZ" smtClean="0"/>
              <a:t>6/06/2026</a:t>
            </a:fld>
            <a:endParaRPr lang="en-NZ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B71BC8-2D64-4B2E-AF30-085D0F2435E5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9854666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39456" y="569242"/>
            <a:ext cx="13040439" cy="20665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39456" y="2846200"/>
            <a:ext cx="13040439" cy="67838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9455" y="9909729"/>
            <a:ext cx="3401854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7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D3EC942-BB70-4E76-8AE2-6AB6D073FD99}" type="datetimeFigureOut">
              <a:rPr lang="en-NZ" smtClean="0"/>
              <a:t>6/06/2026</a:t>
            </a:fld>
            <a:endParaRPr lang="en-NZ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008285" y="9909729"/>
            <a:ext cx="5102781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87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NZ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78041" y="9909729"/>
            <a:ext cx="3401854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7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8B71BC8-2D64-4B2E-AF30-085D0F2435E5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2604161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425550" rtl="0" eaLnBrk="1" latinLnBrk="0" hangingPunct="1">
        <a:lnSpc>
          <a:spcPct val="90000"/>
        </a:lnSpc>
        <a:spcBef>
          <a:spcPct val="0"/>
        </a:spcBef>
        <a:buNone/>
        <a:defRPr sz="68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56387" indent="-356387" algn="l" defTabSz="1425550" rtl="0" eaLnBrk="1" latinLnBrk="0" hangingPunct="1">
        <a:lnSpc>
          <a:spcPct val="90000"/>
        </a:lnSpc>
        <a:spcBef>
          <a:spcPts val="1559"/>
        </a:spcBef>
        <a:buFont typeface="Arial" panose="020B0604020202020204" pitchFamily="34" charset="0"/>
        <a:buChar char="•"/>
        <a:defRPr sz="4365" kern="1200">
          <a:solidFill>
            <a:schemeClr val="tx1"/>
          </a:solidFill>
          <a:latin typeface="+mn-lt"/>
          <a:ea typeface="+mn-ea"/>
          <a:cs typeface="+mn-cs"/>
        </a:defRPr>
      </a:lvl1pPr>
      <a:lvl2pPr marL="1069162" indent="-356387" algn="l" defTabSz="1425550" rtl="0" eaLnBrk="1" latinLnBrk="0" hangingPunct="1">
        <a:lnSpc>
          <a:spcPct val="90000"/>
        </a:lnSpc>
        <a:spcBef>
          <a:spcPts val="780"/>
        </a:spcBef>
        <a:buFont typeface="Arial" panose="020B0604020202020204" pitchFamily="34" charset="0"/>
        <a:buChar char="•"/>
        <a:defRPr sz="3742" kern="1200">
          <a:solidFill>
            <a:schemeClr val="tx1"/>
          </a:solidFill>
          <a:latin typeface="+mn-lt"/>
          <a:ea typeface="+mn-ea"/>
          <a:cs typeface="+mn-cs"/>
        </a:defRPr>
      </a:lvl2pPr>
      <a:lvl3pPr marL="1781937" indent="-356387" algn="l" defTabSz="1425550" rtl="0" eaLnBrk="1" latinLnBrk="0" hangingPunct="1">
        <a:lnSpc>
          <a:spcPct val="90000"/>
        </a:lnSpc>
        <a:spcBef>
          <a:spcPts val="780"/>
        </a:spcBef>
        <a:buFont typeface="Arial" panose="020B0604020202020204" pitchFamily="34" charset="0"/>
        <a:buChar char="•"/>
        <a:defRPr sz="3118" kern="1200">
          <a:solidFill>
            <a:schemeClr val="tx1"/>
          </a:solidFill>
          <a:latin typeface="+mn-lt"/>
          <a:ea typeface="+mn-ea"/>
          <a:cs typeface="+mn-cs"/>
        </a:defRPr>
      </a:lvl3pPr>
      <a:lvl4pPr marL="2494712" indent="-356387" algn="l" defTabSz="1425550" rtl="0" eaLnBrk="1" latinLnBrk="0" hangingPunct="1">
        <a:lnSpc>
          <a:spcPct val="90000"/>
        </a:lnSpc>
        <a:spcBef>
          <a:spcPts val="780"/>
        </a:spcBef>
        <a:buFont typeface="Arial" panose="020B0604020202020204" pitchFamily="34" charset="0"/>
        <a:buChar char="•"/>
        <a:defRPr sz="2806" kern="1200">
          <a:solidFill>
            <a:schemeClr val="tx1"/>
          </a:solidFill>
          <a:latin typeface="+mn-lt"/>
          <a:ea typeface="+mn-ea"/>
          <a:cs typeface="+mn-cs"/>
        </a:defRPr>
      </a:lvl4pPr>
      <a:lvl5pPr marL="3207487" indent="-356387" algn="l" defTabSz="1425550" rtl="0" eaLnBrk="1" latinLnBrk="0" hangingPunct="1">
        <a:lnSpc>
          <a:spcPct val="90000"/>
        </a:lnSpc>
        <a:spcBef>
          <a:spcPts val="780"/>
        </a:spcBef>
        <a:buFont typeface="Arial" panose="020B0604020202020204" pitchFamily="34" charset="0"/>
        <a:buChar char="•"/>
        <a:defRPr sz="2806" kern="1200">
          <a:solidFill>
            <a:schemeClr val="tx1"/>
          </a:solidFill>
          <a:latin typeface="+mn-lt"/>
          <a:ea typeface="+mn-ea"/>
          <a:cs typeface="+mn-cs"/>
        </a:defRPr>
      </a:lvl5pPr>
      <a:lvl6pPr marL="3920261" indent="-356387" algn="l" defTabSz="1425550" rtl="0" eaLnBrk="1" latinLnBrk="0" hangingPunct="1">
        <a:lnSpc>
          <a:spcPct val="90000"/>
        </a:lnSpc>
        <a:spcBef>
          <a:spcPts val="780"/>
        </a:spcBef>
        <a:buFont typeface="Arial" panose="020B0604020202020204" pitchFamily="34" charset="0"/>
        <a:buChar char="•"/>
        <a:defRPr sz="2806" kern="1200">
          <a:solidFill>
            <a:schemeClr val="tx1"/>
          </a:solidFill>
          <a:latin typeface="+mn-lt"/>
          <a:ea typeface="+mn-ea"/>
          <a:cs typeface="+mn-cs"/>
        </a:defRPr>
      </a:lvl6pPr>
      <a:lvl7pPr marL="4633036" indent="-356387" algn="l" defTabSz="1425550" rtl="0" eaLnBrk="1" latinLnBrk="0" hangingPunct="1">
        <a:lnSpc>
          <a:spcPct val="90000"/>
        </a:lnSpc>
        <a:spcBef>
          <a:spcPts val="780"/>
        </a:spcBef>
        <a:buFont typeface="Arial" panose="020B0604020202020204" pitchFamily="34" charset="0"/>
        <a:buChar char="•"/>
        <a:defRPr sz="2806" kern="1200">
          <a:solidFill>
            <a:schemeClr val="tx1"/>
          </a:solidFill>
          <a:latin typeface="+mn-lt"/>
          <a:ea typeface="+mn-ea"/>
          <a:cs typeface="+mn-cs"/>
        </a:defRPr>
      </a:lvl7pPr>
      <a:lvl8pPr marL="5345811" indent="-356387" algn="l" defTabSz="1425550" rtl="0" eaLnBrk="1" latinLnBrk="0" hangingPunct="1">
        <a:lnSpc>
          <a:spcPct val="90000"/>
        </a:lnSpc>
        <a:spcBef>
          <a:spcPts val="780"/>
        </a:spcBef>
        <a:buFont typeface="Arial" panose="020B0604020202020204" pitchFamily="34" charset="0"/>
        <a:buChar char="•"/>
        <a:defRPr sz="2806" kern="1200">
          <a:solidFill>
            <a:schemeClr val="tx1"/>
          </a:solidFill>
          <a:latin typeface="+mn-lt"/>
          <a:ea typeface="+mn-ea"/>
          <a:cs typeface="+mn-cs"/>
        </a:defRPr>
      </a:lvl8pPr>
      <a:lvl9pPr marL="6058586" indent="-356387" algn="l" defTabSz="1425550" rtl="0" eaLnBrk="1" latinLnBrk="0" hangingPunct="1">
        <a:lnSpc>
          <a:spcPct val="90000"/>
        </a:lnSpc>
        <a:spcBef>
          <a:spcPts val="780"/>
        </a:spcBef>
        <a:buFont typeface="Arial" panose="020B0604020202020204" pitchFamily="34" charset="0"/>
        <a:buChar char="•"/>
        <a:defRPr sz="280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425550" rtl="0" eaLnBrk="1" latinLnBrk="0" hangingPunct="1">
        <a:defRPr sz="2806" kern="1200">
          <a:solidFill>
            <a:schemeClr val="tx1"/>
          </a:solidFill>
          <a:latin typeface="+mn-lt"/>
          <a:ea typeface="+mn-ea"/>
          <a:cs typeface="+mn-cs"/>
        </a:defRPr>
      </a:lvl1pPr>
      <a:lvl2pPr marL="712775" algn="l" defTabSz="1425550" rtl="0" eaLnBrk="1" latinLnBrk="0" hangingPunct="1">
        <a:defRPr sz="2806" kern="1200">
          <a:solidFill>
            <a:schemeClr val="tx1"/>
          </a:solidFill>
          <a:latin typeface="+mn-lt"/>
          <a:ea typeface="+mn-ea"/>
          <a:cs typeface="+mn-cs"/>
        </a:defRPr>
      </a:lvl2pPr>
      <a:lvl3pPr marL="1425550" algn="l" defTabSz="1425550" rtl="0" eaLnBrk="1" latinLnBrk="0" hangingPunct="1">
        <a:defRPr sz="2806" kern="1200">
          <a:solidFill>
            <a:schemeClr val="tx1"/>
          </a:solidFill>
          <a:latin typeface="+mn-lt"/>
          <a:ea typeface="+mn-ea"/>
          <a:cs typeface="+mn-cs"/>
        </a:defRPr>
      </a:lvl3pPr>
      <a:lvl4pPr marL="2138324" algn="l" defTabSz="1425550" rtl="0" eaLnBrk="1" latinLnBrk="0" hangingPunct="1">
        <a:defRPr sz="2806" kern="1200">
          <a:solidFill>
            <a:schemeClr val="tx1"/>
          </a:solidFill>
          <a:latin typeface="+mn-lt"/>
          <a:ea typeface="+mn-ea"/>
          <a:cs typeface="+mn-cs"/>
        </a:defRPr>
      </a:lvl4pPr>
      <a:lvl5pPr marL="2851099" algn="l" defTabSz="1425550" rtl="0" eaLnBrk="1" latinLnBrk="0" hangingPunct="1">
        <a:defRPr sz="2806" kern="1200">
          <a:solidFill>
            <a:schemeClr val="tx1"/>
          </a:solidFill>
          <a:latin typeface="+mn-lt"/>
          <a:ea typeface="+mn-ea"/>
          <a:cs typeface="+mn-cs"/>
        </a:defRPr>
      </a:lvl5pPr>
      <a:lvl6pPr marL="3563874" algn="l" defTabSz="1425550" rtl="0" eaLnBrk="1" latinLnBrk="0" hangingPunct="1">
        <a:defRPr sz="2806" kern="1200">
          <a:solidFill>
            <a:schemeClr val="tx1"/>
          </a:solidFill>
          <a:latin typeface="+mn-lt"/>
          <a:ea typeface="+mn-ea"/>
          <a:cs typeface="+mn-cs"/>
        </a:defRPr>
      </a:lvl6pPr>
      <a:lvl7pPr marL="4276649" algn="l" defTabSz="1425550" rtl="0" eaLnBrk="1" latinLnBrk="0" hangingPunct="1">
        <a:defRPr sz="2806" kern="1200">
          <a:solidFill>
            <a:schemeClr val="tx1"/>
          </a:solidFill>
          <a:latin typeface="+mn-lt"/>
          <a:ea typeface="+mn-ea"/>
          <a:cs typeface="+mn-cs"/>
        </a:defRPr>
      </a:lvl7pPr>
      <a:lvl8pPr marL="4989424" algn="l" defTabSz="1425550" rtl="0" eaLnBrk="1" latinLnBrk="0" hangingPunct="1">
        <a:defRPr sz="2806" kern="1200">
          <a:solidFill>
            <a:schemeClr val="tx1"/>
          </a:solidFill>
          <a:latin typeface="+mn-lt"/>
          <a:ea typeface="+mn-ea"/>
          <a:cs typeface="+mn-cs"/>
        </a:defRPr>
      </a:lvl8pPr>
      <a:lvl9pPr marL="5702198" algn="l" defTabSz="1425550" rtl="0" eaLnBrk="1" latinLnBrk="0" hangingPunct="1">
        <a:defRPr sz="2806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chart" Target="../charts/chart2.xml"/><Relationship Id="rId7" Type="http://schemas.microsoft.com/office/2014/relationships/chartEx" Target="../charts/chartEx2.xml"/><Relationship Id="rId12" Type="http://schemas.openxmlformats.org/officeDocument/2006/relationships/chart" Target="../charts/chart7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11" Type="http://schemas.openxmlformats.org/officeDocument/2006/relationships/chart" Target="../charts/chart6.xml"/><Relationship Id="rId5" Type="http://schemas.microsoft.com/office/2014/relationships/chartEx" Target="../charts/chartEx1.xml"/><Relationship Id="rId10" Type="http://schemas.openxmlformats.org/officeDocument/2006/relationships/chart" Target="../charts/chart5.xml"/><Relationship Id="rId4" Type="http://schemas.openxmlformats.org/officeDocument/2006/relationships/chart" Target="../charts/chart3.xml"/><Relationship Id="rId9" Type="http://schemas.openxmlformats.org/officeDocument/2006/relationships/chart" Target="../charts/char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A0D018D7-0402-C897-234B-64A123C00ECE}"/>
              </a:ext>
            </a:extLst>
          </p:cNvPr>
          <p:cNvSpPr/>
          <p:nvPr/>
        </p:nvSpPr>
        <p:spPr>
          <a:xfrm>
            <a:off x="10277061" y="0"/>
            <a:ext cx="4842288" cy="140141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34D7C49B-8957-ACDF-4546-EBA363D670F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65398352"/>
              </p:ext>
            </p:extLst>
          </p:nvPr>
        </p:nvGraphicFramePr>
        <p:xfrm>
          <a:off x="-22910" y="16812"/>
          <a:ext cx="4572000" cy="322324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71A7E546-F2DC-8D96-C0E7-177D1985B99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34935444"/>
              </p:ext>
            </p:extLst>
          </p:nvPr>
        </p:nvGraphicFramePr>
        <p:xfrm>
          <a:off x="10204256" y="4452967"/>
          <a:ext cx="4911090" cy="300545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F2A14921-5C1A-1D29-8C49-BEC0910BBCF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05569537"/>
              </p:ext>
            </p:extLst>
          </p:nvPr>
        </p:nvGraphicFramePr>
        <p:xfrm>
          <a:off x="10386833" y="1759968"/>
          <a:ext cx="4529733" cy="269958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mc:AlternateContent xmlns:mc="http://schemas.openxmlformats.org/markup-compatibility/2006">
        <mc:Choice xmlns:cx1="http://schemas.microsoft.com/office/drawing/2015/9/8/chartex" Requires="cx1">
          <p:graphicFrame>
            <p:nvGraphicFramePr>
              <p:cNvPr id="8" name="Chart 7">
                <a:extLst>
                  <a:ext uri="{FF2B5EF4-FFF2-40B4-BE49-F238E27FC236}">
                    <a16:creationId xmlns:a16="http://schemas.microsoft.com/office/drawing/2014/main" id="{F79FAB76-86C9-56B7-C6C0-C4A92EC73995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435984440"/>
                  </p:ext>
                </p:extLst>
              </p:nvPr>
            </p:nvGraphicFramePr>
            <p:xfrm>
              <a:off x="-22910" y="6996659"/>
              <a:ext cx="3806691" cy="3104285"/>
            </p:xfrm>
            <a:graphic>
              <a:graphicData uri="http://schemas.microsoft.com/office/drawing/2014/chartex">
                <cx:chart xmlns:cx="http://schemas.microsoft.com/office/drawing/2014/chartex" xmlns:r="http://schemas.openxmlformats.org/officeDocument/2006/relationships" r:id="rId5"/>
              </a:graphicData>
            </a:graphic>
          </p:graphicFrame>
        </mc:Choice>
        <mc:Fallback>
          <p:pic>
            <p:nvPicPr>
              <p:cNvPr id="8" name="Chart 7">
                <a:extLst>
                  <a:ext uri="{FF2B5EF4-FFF2-40B4-BE49-F238E27FC236}">
                    <a16:creationId xmlns:a16="http://schemas.microsoft.com/office/drawing/2014/main" id="{F79FAB76-86C9-56B7-C6C0-C4A92EC73995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-22910" y="6996659"/>
                <a:ext cx="3806691" cy="310428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cx2="http://schemas.microsoft.com/office/drawing/2015/10/21/chartex" Requires="cx2">
          <p:graphicFrame>
            <p:nvGraphicFramePr>
              <p:cNvPr id="9" name="Chart 8">
                <a:extLst>
                  <a:ext uri="{FF2B5EF4-FFF2-40B4-BE49-F238E27FC236}">
                    <a16:creationId xmlns:a16="http://schemas.microsoft.com/office/drawing/2014/main" id="{284E04BE-E04D-BF33-A01F-A4EAB69063BF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551629553"/>
                  </p:ext>
                </p:extLst>
              </p:nvPr>
            </p:nvGraphicFramePr>
            <p:xfrm>
              <a:off x="3707296" y="6947452"/>
              <a:ext cx="6261333" cy="3134414"/>
            </p:xfrm>
            <a:graphic>
              <a:graphicData uri="http://schemas.microsoft.com/office/drawing/2014/chartex">
                <cx:chart xmlns:cx="http://schemas.microsoft.com/office/drawing/2014/chartex" xmlns:r="http://schemas.openxmlformats.org/officeDocument/2006/relationships" r:id="rId7"/>
              </a:graphicData>
            </a:graphic>
          </p:graphicFrame>
        </mc:Choice>
        <mc:Fallback>
          <p:pic>
            <p:nvPicPr>
              <p:cNvPr id="9" name="Chart 8">
                <a:extLst>
                  <a:ext uri="{FF2B5EF4-FFF2-40B4-BE49-F238E27FC236}">
                    <a16:creationId xmlns:a16="http://schemas.microsoft.com/office/drawing/2014/main" id="{284E04BE-E04D-BF33-A01F-A4EAB69063BF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3707296" y="6947452"/>
                <a:ext cx="6261333" cy="3134414"/>
              </a:xfrm>
              <a:prstGeom prst="rect">
                <a:avLst/>
              </a:prstGeom>
            </p:spPr>
          </p:pic>
        </mc:Fallback>
      </mc:AlternateContent>
      <p:graphicFrame>
        <p:nvGraphicFramePr>
          <p:cNvPr id="10" name="Chart 9">
            <a:extLst>
              <a:ext uri="{FF2B5EF4-FFF2-40B4-BE49-F238E27FC236}">
                <a16:creationId xmlns:a16="http://schemas.microsoft.com/office/drawing/2014/main" id="{E7A0A26A-99AA-0CE4-7102-6F6F2342283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27936205"/>
              </p:ext>
            </p:extLst>
          </p:nvPr>
        </p:nvGraphicFramePr>
        <p:xfrm>
          <a:off x="5078896" y="3633586"/>
          <a:ext cx="4742648" cy="300545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9"/>
          </a:graphicData>
        </a:graphic>
      </p:graphicFrame>
      <p:graphicFrame>
        <p:nvGraphicFramePr>
          <p:cNvPr id="11" name="Chart 10">
            <a:extLst>
              <a:ext uri="{FF2B5EF4-FFF2-40B4-BE49-F238E27FC236}">
                <a16:creationId xmlns:a16="http://schemas.microsoft.com/office/drawing/2014/main" id="{FC5F4076-0B2C-70E9-C9BD-8198E616874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55285233"/>
              </p:ext>
            </p:extLst>
          </p:nvPr>
        </p:nvGraphicFramePr>
        <p:xfrm>
          <a:off x="0" y="3633586"/>
          <a:ext cx="4939748" cy="300545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0"/>
          </a:graphicData>
        </a:graphic>
      </p:graphicFrame>
      <p:graphicFrame>
        <p:nvGraphicFramePr>
          <p:cNvPr id="12" name="Chart 11">
            <a:extLst>
              <a:ext uri="{FF2B5EF4-FFF2-40B4-BE49-F238E27FC236}">
                <a16:creationId xmlns:a16="http://schemas.microsoft.com/office/drawing/2014/main" id="{9E221C86-DE1A-BFF0-CD42-FA1FBEE0B43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872318952"/>
              </p:ext>
            </p:extLst>
          </p:nvPr>
        </p:nvGraphicFramePr>
        <p:xfrm>
          <a:off x="11825175" y="7924020"/>
          <a:ext cx="3876576" cy="217692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1"/>
          </a:graphicData>
        </a:graphic>
      </p:graphicFrame>
      <p:graphicFrame>
        <p:nvGraphicFramePr>
          <p:cNvPr id="15" name="Chart 14">
            <a:extLst>
              <a:ext uri="{FF2B5EF4-FFF2-40B4-BE49-F238E27FC236}">
                <a16:creationId xmlns:a16="http://schemas.microsoft.com/office/drawing/2014/main" id="{84259319-12D3-EBBC-C02C-B2A4CD05F7C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830908502"/>
              </p:ext>
            </p:extLst>
          </p:nvPr>
        </p:nvGraphicFramePr>
        <p:xfrm>
          <a:off x="9452108" y="7914922"/>
          <a:ext cx="3806691" cy="218602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2"/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A972C83F-ACBA-754E-1BEB-D4E3175EA872}"/>
              </a:ext>
            </a:extLst>
          </p:cNvPr>
          <p:cNvSpPr txBox="1"/>
          <p:nvPr/>
        </p:nvSpPr>
        <p:spPr>
          <a:xfrm>
            <a:off x="10144622" y="1470930"/>
            <a:ext cx="497472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NZ" b="1" dirty="0">
                <a:latin typeface="Aptos" panose="020B000402020202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D</a:t>
            </a:r>
            <a:r>
              <a:rPr lang="en-NZ" sz="1800" b="1" dirty="0">
                <a:effectLst/>
                <a:latin typeface="Aptos" panose="020B000402020202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emographic </a:t>
            </a:r>
            <a:r>
              <a:rPr lang="en-NZ" b="1" dirty="0">
                <a:latin typeface="Aptos" panose="020B000402020202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A</a:t>
            </a:r>
            <a:r>
              <a:rPr lang="en-NZ" sz="1800" b="1" dirty="0">
                <a:effectLst/>
                <a:latin typeface="Aptos" panose="020B000402020202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ttributes</a:t>
            </a:r>
            <a:endParaRPr lang="en-NZ" b="1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290E47C-E5E2-3785-6CCB-6BE892F8F54F}"/>
              </a:ext>
            </a:extLst>
          </p:cNvPr>
          <p:cNvSpPr txBox="1"/>
          <p:nvPr/>
        </p:nvSpPr>
        <p:spPr>
          <a:xfrm>
            <a:off x="10167368" y="7525713"/>
            <a:ext cx="49280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NZ" b="1" dirty="0">
                <a:latin typeface="Aptos" panose="020B000402020202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F</a:t>
            </a:r>
            <a:r>
              <a:rPr lang="en-NZ" sz="1800" b="1" dirty="0">
                <a:effectLst/>
                <a:latin typeface="Aptos" panose="020B000402020202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inancial </a:t>
            </a:r>
            <a:r>
              <a:rPr lang="en-NZ" b="1" dirty="0">
                <a:latin typeface="Aptos" panose="020B000402020202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S</a:t>
            </a:r>
            <a:r>
              <a:rPr lang="en-NZ" sz="1800" b="1" dirty="0">
                <a:effectLst/>
                <a:latin typeface="Aptos" panose="020B000402020202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tatus</a:t>
            </a:r>
            <a:endParaRPr lang="en-NZ" b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A75543D-67FD-FDCD-8D4F-3693A27E213D}"/>
              </a:ext>
            </a:extLst>
          </p:cNvPr>
          <p:cNvSpPr txBox="1"/>
          <p:nvPr/>
        </p:nvSpPr>
        <p:spPr>
          <a:xfrm>
            <a:off x="6585" y="3259134"/>
            <a:ext cx="1014462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NZ" b="1" dirty="0">
                <a:latin typeface="Aptos" panose="020B000402020202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A</a:t>
            </a:r>
            <a:r>
              <a:rPr lang="en-NZ" sz="1800" b="1" dirty="0">
                <a:effectLst/>
                <a:latin typeface="Aptos" panose="020B000402020202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cademic </a:t>
            </a:r>
            <a:r>
              <a:rPr lang="en-NZ" b="1" dirty="0">
                <a:latin typeface="Aptos" panose="020B000402020202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I</a:t>
            </a:r>
            <a:r>
              <a:rPr lang="en-NZ" sz="1800" b="1" dirty="0">
                <a:effectLst/>
                <a:latin typeface="Aptos" panose="020B000402020202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nformation</a:t>
            </a:r>
            <a:endParaRPr lang="en-NZ" b="1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BFC4C37-9F3C-B039-06C6-257B78260D72}"/>
              </a:ext>
            </a:extLst>
          </p:cNvPr>
          <p:cNvSpPr/>
          <p:nvPr/>
        </p:nvSpPr>
        <p:spPr>
          <a:xfrm>
            <a:off x="0" y="10071128"/>
            <a:ext cx="15115346" cy="62068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NZ" sz="1600" b="1" dirty="0"/>
              <a:t>Insights: 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C64E988-E2BA-E284-BFDD-8FFE2AEE3988}"/>
              </a:ext>
            </a:extLst>
          </p:cNvPr>
          <p:cNvSpPr txBox="1"/>
          <p:nvPr/>
        </p:nvSpPr>
        <p:spPr>
          <a:xfrm>
            <a:off x="10601741" y="46571"/>
            <a:ext cx="4517610" cy="1136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800"/>
              </a:spcAft>
              <a:buNone/>
            </a:pPr>
            <a:r>
              <a:rPr lang="en-NZ" sz="2000" b="1" kern="100" dirty="0">
                <a:solidFill>
                  <a:schemeClr val="bg1"/>
                </a:solidFill>
                <a:effectLst/>
                <a:latin typeface="Aptos" panose="020B000402020202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Data-Driven Analysis of Key Factors Influencing University Students’ Mental Health </a:t>
            </a:r>
            <a:endParaRPr lang="en-NZ" sz="1600" kern="100" dirty="0">
              <a:solidFill>
                <a:schemeClr val="bg1"/>
              </a:solidFill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664264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125</TotalTime>
  <Words>126</Words>
  <Application>Microsoft Office PowerPoint</Application>
  <PresentationFormat>Custom</PresentationFormat>
  <Paragraphs>41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Aptos Narrow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arielwang.710089</dc:creator>
  <cp:lastModifiedBy>arielwang.710089</cp:lastModifiedBy>
  <cp:revision>4</cp:revision>
  <dcterms:created xsi:type="dcterms:W3CDTF">2026-06-06T01:46:26Z</dcterms:created>
  <dcterms:modified xsi:type="dcterms:W3CDTF">2026-06-06T03:51:32Z</dcterms:modified>
</cp:coreProperties>
</file>